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 Italics" charset="1" panose="02000503000000020004"/>
      <p:regular r:id="rId19"/>
    </p:embeddedFont>
    <p:embeddedFont>
      <p:font typeface="Arimo" charset="1" panose="020B0604020202020204"/>
      <p:regular r:id="rId20"/>
    </p:embeddedFont>
    <p:embeddedFont>
      <p:font typeface="Arial Bold Italics" charset="1" panose="020B0704020202090204"/>
      <p:regular r:id="rId22"/>
    </p:embeddedFont>
    <p:embeddedFont>
      <p:font typeface="Calibri (MS) Bold" charset="1" panose="020F0702030404030204"/>
      <p:regular r:id="rId23"/>
    </p:embeddedFont>
    <p:embeddedFont>
      <p:font typeface="Arial Bold" charset="1" panose="020B0704020202020204"/>
      <p:regular r:id="rId24"/>
    </p:embeddedFont>
    <p:embeddedFont>
      <p:font typeface="Inter Bold" charset="1" panose="02000503000000020004"/>
      <p:regular r:id="rId26"/>
    </p:embeddedFont>
    <p:embeddedFont>
      <p:font typeface="Arimo Bold" charset="1" panose="020B0704020202020204"/>
      <p:regular r:id="rId27"/>
    </p:embeddedFont>
    <p:embeddedFont>
      <p:font typeface="Mandali" charset="1" panose="02000600000000000000"/>
      <p:regular r:id="rId31"/>
    </p:embeddedFont>
    <p:embeddedFont>
      <p:font typeface="Arial" charset="1" panose="020B06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16.jpeg" Type="http://schemas.openxmlformats.org/officeDocument/2006/relationships/image"/><Relationship Id="rId5" Target="../media/VAHH8akUyv4.mp4" Type="http://schemas.openxmlformats.org/officeDocument/2006/relationships/video"/><Relationship Id="rId6" Target="../media/VAHH8akUyv4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7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https://github.com/2026-capstone-design-Genesis/2026-capstone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" y="1905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2990088"/>
            <a:ext cx="13427231" cy="119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7"/>
              </a:lnSpc>
            </a:pPr>
            <a:r>
              <a:rPr lang="en-US" b="true" sz="8700" i="true" spc="-3">
                <a:solidFill>
                  <a:srgbClr val="F8FAFC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프로젝트 진행 상황 보고서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3050" y="5773245"/>
            <a:ext cx="11259950" cy="64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4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Progress 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6836474"/>
            <a:ext cx="11430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발표자: 2팀 전영우(2021041072), 고재현(2023078075)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7525845"/>
            <a:ext cx="11430000" cy="4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날짜: 2026. 04. 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9671447"/>
            <a:ext cx="822979" cy="32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7597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2192700"/>
            <a:chOff x="0" y="0"/>
            <a:chExt cx="16255594" cy="19490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5619" cy="1949018"/>
            </a:xfrm>
            <a:custGeom>
              <a:avLst/>
              <a:gdLst/>
              <a:ahLst/>
              <a:cxnLst/>
              <a:rect r="r" b="b" t="t" l="l"/>
              <a:pathLst>
                <a:path h="1949018" w="16255619">
                  <a:moveTo>
                    <a:pt x="0" y="0"/>
                  </a:moveTo>
                  <a:lnTo>
                    <a:pt x="16255619" y="0"/>
                  </a:lnTo>
                  <a:lnTo>
                    <a:pt x="16255619" y="1949018"/>
                  </a:lnTo>
                  <a:lnTo>
                    <a:pt x="0" y="1949018"/>
                  </a:lnTo>
                  <a:close/>
                </a:path>
              </a:pathLst>
            </a:custGeom>
            <a:solidFill>
              <a:srgbClr val="5383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7846" y="433589"/>
            <a:ext cx="658384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i="true">
                <a:solidFill>
                  <a:srgbClr val="F8FA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00. CONTENTS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282" y="1213523"/>
            <a:ext cx="452639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프로젝트 진행 상황 보고서 목차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30886" y="342909"/>
            <a:ext cx="20575" cy="20575"/>
            <a:chOff x="0" y="0"/>
            <a:chExt cx="18288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430886" y="466356"/>
            <a:ext cx="20575" cy="20575"/>
            <a:chOff x="0" y="0"/>
            <a:chExt cx="18288" cy="18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430886" y="589803"/>
            <a:ext cx="20575" cy="20575"/>
            <a:chOff x="0" y="0"/>
            <a:chExt cx="18288" cy="18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430886" y="713250"/>
            <a:ext cx="20575" cy="20575"/>
            <a:chOff x="0" y="0"/>
            <a:chExt cx="18288" cy="18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430886" y="836697"/>
            <a:ext cx="20575" cy="20575"/>
            <a:chOff x="0" y="0"/>
            <a:chExt cx="18288" cy="18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54333" y="342909"/>
            <a:ext cx="20575" cy="20575"/>
            <a:chOff x="0" y="0"/>
            <a:chExt cx="18288" cy="182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554333" y="466356"/>
            <a:ext cx="20575" cy="20575"/>
            <a:chOff x="0" y="0"/>
            <a:chExt cx="18288" cy="18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554333" y="589803"/>
            <a:ext cx="20575" cy="20575"/>
            <a:chOff x="0" y="0"/>
            <a:chExt cx="18288" cy="18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554333" y="713250"/>
            <a:ext cx="20575" cy="20575"/>
            <a:chOff x="0" y="0"/>
            <a:chExt cx="18288" cy="18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554333" y="836697"/>
            <a:ext cx="20575" cy="20575"/>
            <a:chOff x="0" y="0"/>
            <a:chExt cx="18288" cy="18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677780" y="342909"/>
            <a:ext cx="20575" cy="20575"/>
            <a:chOff x="0" y="0"/>
            <a:chExt cx="18288" cy="18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677780" y="466356"/>
            <a:ext cx="20575" cy="20575"/>
            <a:chOff x="0" y="0"/>
            <a:chExt cx="18288" cy="18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677780" y="589803"/>
            <a:ext cx="20575" cy="20575"/>
            <a:chOff x="0" y="0"/>
            <a:chExt cx="18288" cy="18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677780" y="713250"/>
            <a:ext cx="20575" cy="20575"/>
            <a:chOff x="0" y="0"/>
            <a:chExt cx="18288" cy="18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677780" y="836697"/>
            <a:ext cx="20575" cy="20575"/>
            <a:chOff x="0" y="0"/>
            <a:chExt cx="18288" cy="18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801227" y="342909"/>
            <a:ext cx="20575" cy="20575"/>
            <a:chOff x="0" y="0"/>
            <a:chExt cx="18288" cy="182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801227" y="466356"/>
            <a:ext cx="20575" cy="20575"/>
            <a:chOff x="0" y="0"/>
            <a:chExt cx="18288" cy="18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801227" y="589803"/>
            <a:ext cx="20575" cy="20575"/>
            <a:chOff x="0" y="0"/>
            <a:chExt cx="18288" cy="182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801227" y="713250"/>
            <a:ext cx="20575" cy="20575"/>
            <a:chOff x="0" y="0"/>
            <a:chExt cx="18288" cy="18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801227" y="836697"/>
            <a:ext cx="20575" cy="20575"/>
            <a:chOff x="0" y="0"/>
            <a:chExt cx="18288" cy="182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924674" y="342909"/>
            <a:ext cx="20575" cy="20575"/>
            <a:chOff x="0" y="0"/>
            <a:chExt cx="18288" cy="182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924674" y="466356"/>
            <a:ext cx="20575" cy="20575"/>
            <a:chOff x="0" y="0"/>
            <a:chExt cx="18288" cy="18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924674" y="589803"/>
            <a:ext cx="20575" cy="20575"/>
            <a:chOff x="0" y="0"/>
            <a:chExt cx="18288" cy="18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5924674" y="713250"/>
            <a:ext cx="20575" cy="20575"/>
            <a:chOff x="0" y="0"/>
            <a:chExt cx="18288" cy="182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5924674" y="836697"/>
            <a:ext cx="20575" cy="20575"/>
            <a:chOff x="0" y="0"/>
            <a:chExt cx="18288" cy="18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6048121" y="342909"/>
            <a:ext cx="20575" cy="20575"/>
            <a:chOff x="0" y="0"/>
            <a:chExt cx="18288" cy="182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6048121" y="466356"/>
            <a:ext cx="20575" cy="20575"/>
            <a:chOff x="0" y="0"/>
            <a:chExt cx="18288" cy="182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6048121" y="589803"/>
            <a:ext cx="20575" cy="20575"/>
            <a:chOff x="0" y="0"/>
            <a:chExt cx="18288" cy="182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6048121" y="713250"/>
            <a:ext cx="20575" cy="20575"/>
            <a:chOff x="0" y="0"/>
            <a:chExt cx="18288" cy="182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6048121" y="836697"/>
            <a:ext cx="20575" cy="20575"/>
            <a:chOff x="0" y="0"/>
            <a:chExt cx="18288" cy="182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6171568" y="342909"/>
            <a:ext cx="20575" cy="20575"/>
            <a:chOff x="0" y="0"/>
            <a:chExt cx="18288" cy="18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6171568" y="466356"/>
            <a:ext cx="20575" cy="20575"/>
            <a:chOff x="0" y="0"/>
            <a:chExt cx="18288" cy="1828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6171568" y="589803"/>
            <a:ext cx="20575" cy="20575"/>
            <a:chOff x="0" y="0"/>
            <a:chExt cx="18288" cy="182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6171568" y="713250"/>
            <a:ext cx="20575" cy="20575"/>
            <a:chOff x="0" y="0"/>
            <a:chExt cx="18288" cy="182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6171568" y="836697"/>
            <a:ext cx="20575" cy="20575"/>
            <a:chOff x="0" y="0"/>
            <a:chExt cx="18288" cy="1828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6295015" y="342909"/>
            <a:ext cx="20575" cy="20575"/>
            <a:chOff x="0" y="0"/>
            <a:chExt cx="18288" cy="1828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6295015" y="466356"/>
            <a:ext cx="20575" cy="20575"/>
            <a:chOff x="0" y="0"/>
            <a:chExt cx="18288" cy="18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6295015" y="589803"/>
            <a:ext cx="20575" cy="20575"/>
            <a:chOff x="0" y="0"/>
            <a:chExt cx="18288" cy="1828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295015" y="713250"/>
            <a:ext cx="20575" cy="20575"/>
            <a:chOff x="0" y="0"/>
            <a:chExt cx="18288" cy="1828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6295015" y="836697"/>
            <a:ext cx="20575" cy="20575"/>
            <a:chOff x="0" y="0"/>
            <a:chExt cx="18288" cy="182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8288" cy="18288"/>
            </a:xfrm>
            <a:custGeom>
              <a:avLst/>
              <a:gdLst/>
              <a:ahLst/>
              <a:cxnLst/>
              <a:rect r="r" b="b" t="t" l="l"/>
              <a:pathLst>
                <a:path h="18288" w="18288">
                  <a:moveTo>
                    <a:pt x="0" y="9144"/>
                  </a:moveTo>
                  <a:cubicBezTo>
                    <a:pt x="0" y="4064"/>
                    <a:pt x="4064" y="0"/>
                    <a:pt x="9144" y="0"/>
                  </a:cubicBezTo>
                  <a:cubicBezTo>
                    <a:pt x="14224" y="0"/>
                    <a:pt x="18288" y="4064"/>
                    <a:pt x="18288" y="9144"/>
                  </a:cubicBezTo>
                  <a:cubicBezTo>
                    <a:pt x="18288" y="14224"/>
                    <a:pt x="14224" y="18288"/>
                    <a:pt x="9144" y="18288"/>
                  </a:cubicBezTo>
                  <a:cubicBezTo>
                    <a:pt x="4064" y="18288"/>
                    <a:pt x="0" y="14224"/>
                    <a:pt x="0" y="9144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05279" y="2722673"/>
            <a:ext cx="48007" cy="342909"/>
            <a:chOff x="0" y="0"/>
            <a:chExt cx="42672" cy="3048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2672" cy="304800"/>
            </a:xfrm>
            <a:custGeom>
              <a:avLst/>
              <a:gdLst/>
              <a:ahLst/>
              <a:cxnLst/>
              <a:rect r="r" b="b" t="t" l="l"/>
              <a:pathLst>
                <a:path h="304800" w="42672">
                  <a:moveTo>
                    <a:pt x="0" y="0"/>
                  </a:moveTo>
                  <a:lnTo>
                    <a:pt x="42672" y="0"/>
                  </a:lnTo>
                  <a:lnTo>
                    <a:pt x="42672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4BBE8A"/>
            </a:solid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1152173" y="2592750"/>
            <a:ext cx="233177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50" b="true">
                <a:solidFill>
                  <a:srgbClr val="4BBE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발표 흐름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688403" y="2602275"/>
            <a:ext cx="987576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프로젝트 개요부터 구현 현황, 데모, 향후 로드맵까지 순서대로 설명합니다.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158745" y="3346480"/>
            <a:ext cx="6941041" cy="1080164"/>
            <a:chOff x="0" y="0"/>
            <a:chExt cx="6169660" cy="96012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6350" y="8923"/>
              <a:ext cx="6156960" cy="942276"/>
            </a:xfrm>
            <a:custGeom>
              <a:avLst/>
              <a:gdLst/>
              <a:ahLst/>
              <a:cxnLst/>
              <a:rect r="r" b="b" t="t" l="l"/>
              <a:pathLst>
                <a:path h="942276" w="6156960">
                  <a:moveTo>
                    <a:pt x="0" y="157046"/>
                  </a:moveTo>
                  <a:cubicBezTo>
                    <a:pt x="0" y="70314"/>
                    <a:pt x="50927" y="0"/>
                    <a:pt x="113665" y="0"/>
                  </a:cubicBezTo>
                  <a:lnTo>
                    <a:pt x="6043295" y="0"/>
                  </a:lnTo>
                  <a:cubicBezTo>
                    <a:pt x="6106033" y="0"/>
                    <a:pt x="6156960" y="70314"/>
                    <a:pt x="6156960" y="157046"/>
                  </a:cubicBezTo>
                  <a:lnTo>
                    <a:pt x="6156960" y="785230"/>
                  </a:lnTo>
                  <a:cubicBezTo>
                    <a:pt x="6156960" y="871962"/>
                    <a:pt x="6106033" y="942276"/>
                    <a:pt x="6043295" y="942276"/>
                  </a:cubicBezTo>
                  <a:lnTo>
                    <a:pt x="113665" y="942276"/>
                  </a:lnTo>
                  <a:cubicBezTo>
                    <a:pt x="50927" y="942276"/>
                    <a:pt x="0" y="871962"/>
                    <a:pt x="0" y="785230"/>
                  </a:cubicBezTo>
                  <a:close/>
                </a:path>
              </a:pathLst>
            </a:custGeom>
            <a:solidFill>
              <a:srgbClr val="121B32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169660" cy="960122"/>
            </a:xfrm>
            <a:custGeom>
              <a:avLst/>
              <a:gdLst/>
              <a:ahLst/>
              <a:cxnLst/>
              <a:rect r="r" b="b" t="t" l="l"/>
              <a:pathLst>
                <a:path h="960122" w="6169660">
                  <a:moveTo>
                    <a:pt x="0" y="165969"/>
                  </a:moveTo>
                  <a:cubicBezTo>
                    <a:pt x="0" y="74240"/>
                    <a:pt x="53848" y="0"/>
                    <a:pt x="120015" y="0"/>
                  </a:cubicBezTo>
                  <a:lnTo>
                    <a:pt x="6049645" y="0"/>
                  </a:lnTo>
                  <a:lnTo>
                    <a:pt x="6049645" y="8923"/>
                  </a:lnTo>
                  <a:lnTo>
                    <a:pt x="6049645" y="0"/>
                  </a:lnTo>
                  <a:cubicBezTo>
                    <a:pt x="6115812" y="0"/>
                    <a:pt x="6169660" y="74240"/>
                    <a:pt x="6169660" y="165969"/>
                  </a:cubicBezTo>
                  <a:lnTo>
                    <a:pt x="6163310" y="165969"/>
                  </a:lnTo>
                  <a:lnTo>
                    <a:pt x="6169660" y="165969"/>
                  </a:lnTo>
                  <a:lnTo>
                    <a:pt x="6169660" y="794153"/>
                  </a:lnTo>
                  <a:lnTo>
                    <a:pt x="6163310" y="794153"/>
                  </a:lnTo>
                  <a:lnTo>
                    <a:pt x="6169660" y="794153"/>
                  </a:lnTo>
                  <a:cubicBezTo>
                    <a:pt x="6169660" y="885882"/>
                    <a:pt x="6115812" y="960122"/>
                    <a:pt x="6049645" y="960122"/>
                  </a:cubicBezTo>
                  <a:lnTo>
                    <a:pt x="6049645" y="951199"/>
                  </a:lnTo>
                  <a:lnTo>
                    <a:pt x="6049645" y="960122"/>
                  </a:lnTo>
                  <a:lnTo>
                    <a:pt x="120015" y="960122"/>
                  </a:lnTo>
                  <a:lnTo>
                    <a:pt x="120015" y="951199"/>
                  </a:lnTo>
                  <a:lnTo>
                    <a:pt x="120015" y="960122"/>
                  </a:lnTo>
                  <a:cubicBezTo>
                    <a:pt x="53848" y="960122"/>
                    <a:pt x="0" y="885882"/>
                    <a:pt x="0" y="794153"/>
                  </a:cubicBezTo>
                  <a:lnTo>
                    <a:pt x="0" y="165969"/>
                  </a:lnTo>
                  <a:lnTo>
                    <a:pt x="6350" y="165969"/>
                  </a:lnTo>
                  <a:lnTo>
                    <a:pt x="0" y="165969"/>
                  </a:lnTo>
                  <a:moveTo>
                    <a:pt x="12700" y="165969"/>
                  </a:moveTo>
                  <a:lnTo>
                    <a:pt x="12700" y="794153"/>
                  </a:lnTo>
                  <a:lnTo>
                    <a:pt x="6350" y="794153"/>
                  </a:lnTo>
                  <a:lnTo>
                    <a:pt x="12700" y="794153"/>
                  </a:lnTo>
                  <a:cubicBezTo>
                    <a:pt x="12700" y="875888"/>
                    <a:pt x="60579" y="942276"/>
                    <a:pt x="120015" y="942276"/>
                  </a:cubicBezTo>
                  <a:lnTo>
                    <a:pt x="6049645" y="942276"/>
                  </a:lnTo>
                  <a:cubicBezTo>
                    <a:pt x="6108954" y="942276"/>
                    <a:pt x="6156960" y="875888"/>
                    <a:pt x="6156960" y="794153"/>
                  </a:cubicBezTo>
                  <a:lnTo>
                    <a:pt x="6156960" y="165969"/>
                  </a:lnTo>
                  <a:cubicBezTo>
                    <a:pt x="6156960" y="84234"/>
                    <a:pt x="6109081" y="17846"/>
                    <a:pt x="6049645" y="17846"/>
                  </a:cubicBezTo>
                  <a:lnTo>
                    <a:pt x="120015" y="17846"/>
                  </a:lnTo>
                  <a:lnTo>
                    <a:pt x="120015" y="8923"/>
                  </a:lnTo>
                  <a:lnTo>
                    <a:pt x="120015" y="17846"/>
                  </a:lnTo>
                  <a:cubicBezTo>
                    <a:pt x="60579" y="17846"/>
                    <a:pt x="12700" y="84234"/>
                    <a:pt x="12700" y="165969"/>
                  </a:cubicBezTo>
                  <a:close/>
                </a:path>
              </a:pathLst>
            </a:custGeom>
            <a:solidFill>
              <a:srgbClr val="28385B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426500" y="3531937"/>
            <a:ext cx="589803" cy="589803"/>
            <a:chOff x="0" y="0"/>
            <a:chExt cx="524256" cy="5242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256" cy="524256"/>
            </a:xfrm>
            <a:custGeom>
              <a:avLst/>
              <a:gdLst/>
              <a:ahLst/>
              <a:cxnLst/>
              <a:rect r="r" b="b" t="t" l="l"/>
              <a:pathLst>
                <a:path h="524256" w="524256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cubicBezTo>
                    <a:pt x="406908" y="0"/>
                    <a:pt x="524256" y="117348"/>
                    <a:pt x="524256" y="262128"/>
                  </a:cubicBezTo>
                  <a:cubicBezTo>
                    <a:pt x="524256" y="406908"/>
                    <a:pt x="406908" y="524256"/>
                    <a:pt x="262128" y="524256"/>
                  </a:cubicBezTo>
                  <a:cubicBezTo>
                    <a:pt x="117348" y="524256"/>
                    <a:pt x="0" y="406908"/>
                    <a:pt x="0" y="262128"/>
                  </a:cubicBezTo>
                  <a:close/>
                </a:path>
              </a:pathLst>
            </a:custGeom>
            <a:solidFill>
              <a:srgbClr val="5A86E5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524256" cy="533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222048" y="3600519"/>
            <a:ext cx="31548" cy="260611"/>
            <a:chOff x="0" y="0"/>
            <a:chExt cx="28042" cy="2316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8067" cy="231648"/>
            </a:xfrm>
            <a:custGeom>
              <a:avLst/>
              <a:gdLst/>
              <a:ahLst/>
              <a:cxnLst/>
              <a:rect r="r" b="b" t="t" l="l"/>
              <a:pathLst>
                <a:path h="231648" w="28067">
                  <a:moveTo>
                    <a:pt x="0" y="0"/>
                  </a:moveTo>
                  <a:lnTo>
                    <a:pt x="28067" y="0"/>
                  </a:lnTo>
                  <a:lnTo>
                    <a:pt x="28067" y="231648"/>
                  </a:lnTo>
                  <a:lnTo>
                    <a:pt x="0" y="231648"/>
                  </a:lnTo>
                  <a:close/>
                </a:path>
              </a:pathLst>
            </a:custGeom>
            <a:solidFill>
              <a:srgbClr val="5A86E5"/>
            </a:solidFill>
          </p:spPr>
        </p:sp>
      </p:grpSp>
      <p:sp>
        <p:nvSpPr>
          <p:cNvPr name="TextBox 100" id="100"/>
          <p:cNvSpPr txBox="true"/>
          <p:nvPr/>
        </p:nvSpPr>
        <p:spPr>
          <a:xfrm rot="0">
            <a:off x="2468942" y="3540320"/>
            <a:ext cx="541795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A86E5"/>
                </a:solidFill>
                <a:latin typeface="Arial Bold"/>
                <a:ea typeface="Arial Bold"/>
                <a:cs typeface="Arial Bold"/>
                <a:sym typeface="Arial Bold"/>
              </a:rPr>
              <a:t>PROJECT OVERVIEW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2468942" y="3827220"/>
            <a:ext cx="541795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F8FA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프로젝트 개요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9731460" y="3346480"/>
            <a:ext cx="6941041" cy="1080164"/>
            <a:chOff x="0" y="0"/>
            <a:chExt cx="6169660" cy="96012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6350" y="8923"/>
              <a:ext cx="6156960" cy="942276"/>
            </a:xfrm>
            <a:custGeom>
              <a:avLst/>
              <a:gdLst/>
              <a:ahLst/>
              <a:cxnLst/>
              <a:rect r="r" b="b" t="t" l="l"/>
              <a:pathLst>
                <a:path h="942276" w="6156960">
                  <a:moveTo>
                    <a:pt x="0" y="157046"/>
                  </a:moveTo>
                  <a:cubicBezTo>
                    <a:pt x="0" y="70314"/>
                    <a:pt x="50927" y="0"/>
                    <a:pt x="113665" y="0"/>
                  </a:cubicBezTo>
                  <a:lnTo>
                    <a:pt x="6043295" y="0"/>
                  </a:lnTo>
                  <a:cubicBezTo>
                    <a:pt x="6106033" y="0"/>
                    <a:pt x="6156960" y="70314"/>
                    <a:pt x="6156960" y="157046"/>
                  </a:cubicBezTo>
                  <a:lnTo>
                    <a:pt x="6156960" y="785230"/>
                  </a:lnTo>
                  <a:cubicBezTo>
                    <a:pt x="6156960" y="871962"/>
                    <a:pt x="6106033" y="942276"/>
                    <a:pt x="6043295" y="942276"/>
                  </a:cubicBezTo>
                  <a:lnTo>
                    <a:pt x="113665" y="942276"/>
                  </a:lnTo>
                  <a:cubicBezTo>
                    <a:pt x="50927" y="942276"/>
                    <a:pt x="0" y="871962"/>
                    <a:pt x="0" y="785230"/>
                  </a:cubicBezTo>
                  <a:close/>
                </a:path>
              </a:pathLst>
            </a:custGeom>
            <a:solidFill>
              <a:srgbClr val="121B32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169660" cy="960122"/>
            </a:xfrm>
            <a:custGeom>
              <a:avLst/>
              <a:gdLst/>
              <a:ahLst/>
              <a:cxnLst/>
              <a:rect r="r" b="b" t="t" l="l"/>
              <a:pathLst>
                <a:path h="960122" w="6169660">
                  <a:moveTo>
                    <a:pt x="0" y="165969"/>
                  </a:moveTo>
                  <a:cubicBezTo>
                    <a:pt x="0" y="74240"/>
                    <a:pt x="53848" y="0"/>
                    <a:pt x="120015" y="0"/>
                  </a:cubicBezTo>
                  <a:lnTo>
                    <a:pt x="6049645" y="0"/>
                  </a:lnTo>
                  <a:lnTo>
                    <a:pt x="6049645" y="8923"/>
                  </a:lnTo>
                  <a:lnTo>
                    <a:pt x="6049645" y="0"/>
                  </a:lnTo>
                  <a:cubicBezTo>
                    <a:pt x="6115812" y="0"/>
                    <a:pt x="6169660" y="74240"/>
                    <a:pt x="6169660" y="165969"/>
                  </a:cubicBezTo>
                  <a:lnTo>
                    <a:pt x="6163310" y="165969"/>
                  </a:lnTo>
                  <a:lnTo>
                    <a:pt x="6169660" y="165969"/>
                  </a:lnTo>
                  <a:lnTo>
                    <a:pt x="6169660" y="794153"/>
                  </a:lnTo>
                  <a:lnTo>
                    <a:pt x="6163310" y="794153"/>
                  </a:lnTo>
                  <a:lnTo>
                    <a:pt x="6169660" y="794153"/>
                  </a:lnTo>
                  <a:cubicBezTo>
                    <a:pt x="6169660" y="885882"/>
                    <a:pt x="6115812" y="960122"/>
                    <a:pt x="6049645" y="960122"/>
                  </a:cubicBezTo>
                  <a:lnTo>
                    <a:pt x="6049645" y="951199"/>
                  </a:lnTo>
                  <a:lnTo>
                    <a:pt x="6049645" y="960122"/>
                  </a:lnTo>
                  <a:lnTo>
                    <a:pt x="120015" y="960122"/>
                  </a:lnTo>
                  <a:lnTo>
                    <a:pt x="120015" y="951199"/>
                  </a:lnTo>
                  <a:lnTo>
                    <a:pt x="120015" y="960122"/>
                  </a:lnTo>
                  <a:cubicBezTo>
                    <a:pt x="53848" y="960122"/>
                    <a:pt x="0" y="885882"/>
                    <a:pt x="0" y="794153"/>
                  </a:cubicBezTo>
                  <a:lnTo>
                    <a:pt x="0" y="165969"/>
                  </a:lnTo>
                  <a:lnTo>
                    <a:pt x="6350" y="165969"/>
                  </a:lnTo>
                  <a:lnTo>
                    <a:pt x="0" y="165969"/>
                  </a:lnTo>
                  <a:moveTo>
                    <a:pt x="12700" y="165969"/>
                  </a:moveTo>
                  <a:lnTo>
                    <a:pt x="12700" y="794153"/>
                  </a:lnTo>
                  <a:lnTo>
                    <a:pt x="6350" y="794153"/>
                  </a:lnTo>
                  <a:lnTo>
                    <a:pt x="12700" y="794153"/>
                  </a:lnTo>
                  <a:cubicBezTo>
                    <a:pt x="12700" y="875888"/>
                    <a:pt x="60579" y="942276"/>
                    <a:pt x="120015" y="942276"/>
                  </a:cubicBezTo>
                  <a:lnTo>
                    <a:pt x="6049645" y="942276"/>
                  </a:lnTo>
                  <a:cubicBezTo>
                    <a:pt x="6108954" y="942276"/>
                    <a:pt x="6156960" y="875888"/>
                    <a:pt x="6156960" y="794153"/>
                  </a:cubicBezTo>
                  <a:lnTo>
                    <a:pt x="6156960" y="165969"/>
                  </a:lnTo>
                  <a:cubicBezTo>
                    <a:pt x="6156960" y="84234"/>
                    <a:pt x="6109081" y="17846"/>
                    <a:pt x="6049645" y="17846"/>
                  </a:cubicBezTo>
                  <a:lnTo>
                    <a:pt x="120015" y="17846"/>
                  </a:lnTo>
                  <a:lnTo>
                    <a:pt x="120015" y="8923"/>
                  </a:lnTo>
                  <a:lnTo>
                    <a:pt x="120015" y="17846"/>
                  </a:lnTo>
                  <a:cubicBezTo>
                    <a:pt x="60579" y="17846"/>
                    <a:pt x="12700" y="84234"/>
                    <a:pt x="12700" y="165969"/>
                  </a:cubicBezTo>
                  <a:close/>
                </a:path>
              </a:pathLst>
            </a:custGeom>
            <a:solidFill>
              <a:srgbClr val="28385B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9999214" y="3531937"/>
            <a:ext cx="589803" cy="589803"/>
            <a:chOff x="0" y="0"/>
            <a:chExt cx="524256" cy="52425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24256" cy="524256"/>
            </a:xfrm>
            <a:custGeom>
              <a:avLst/>
              <a:gdLst/>
              <a:ahLst/>
              <a:cxnLst/>
              <a:rect r="r" b="b" t="t" l="l"/>
              <a:pathLst>
                <a:path h="524256" w="524256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cubicBezTo>
                    <a:pt x="406908" y="0"/>
                    <a:pt x="524256" y="117348"/>
                    <a:pt x="524256" y="262128"/>
                  </a:cubicBezTo>
                  <a:cubicBezTo>
                    <a:pt x="524256" y="406908"/>
                    <a:pt x="406908" y="524256"/>
                    <a:pt x="262128" y="524256"/>
                  </a:cubicBezTo>
                  <a:cubicBezTo>
                    <a:pt x="117348" y="524256"/>
                    <a:pt x="0" y="406908"/>
                    <a:pt x="0" y="262128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524256" cy="533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794762" y="3600519"/>
            <a:ext cx="31548" cy="260611"/>
            <a:chOff x="0" y="0"/>
            <a:chExt cx="28042" cy="23164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8067" cy="231648"/>
            </a:xfrm>
            <a:custGeom>
              <a:avLst/>
              <a:gdLst/>
              <a:ahLst/>
              <a:cxnLst/>
              <a:rect r="r" b="b" t="t" l="l"/>
              <a:pathLst>
                <a:path h="231648" w="28067">
                  <a:moveTo>
                    <a:pt x="0" y="0"/>
                  </a:moveTo>
                  <a:lnTo>
                    <a:pt x="28067" y="0"/>
                  </a:lnTo>
                  <a:lnTo>
                    <a:pt x="28067" y="231648"/>
                  </a:lnTo>
                  <a:lnTo>
                    <a:pt x="0" y="231648"/>
                  </a:lnTo>
                  <a:close/>
                </a:path>
              </a:pathLst>
            </a:custGeom>
            <a:solidFill>
              <a:srgbClr val="4BBE8A"/>
            </a:solidFill>
          </p:spPr>
        </p:sp>
      </p:grpSp>
      <p:sp>
        <p:nvSpPr>
          <p:cNvPr name="TextBox 110" id="110"/>
          <p:cNvSpPr txBox="true"/>
          <p:nvPr/>
        </p:nvSpPr>
        <p:spPr>
          <a:xfrm rot="0">
            <a:off x="11041656" y="3540320"/>
            <a:ext cx="541795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BBE8A"/>
                </a:solidFill>
                <a:latin typeface="Arial Bold"/>
                <a:ea typeface="Arial Bold"/>
                <a:cs typeface="Arial Bold"/>
                <a:sym typeface="Arial Bold"/>
              </a:rPr>
              <a:t>KEY FEATURES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1041656" y="3836745"/>
            <a:ext cx="541795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8FA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핵심 기능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1158745" y="4600375"/>
            <a:ext cx="6941041" cy="1150609"/>
            <a:chOff x="0" y="0"/>
            <a:chExt cx="6169660" cy="102273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6350" y="9505"/>
              <a:ext cx="6156960" cy="1003728"/>
            </a:xfrm>
            <a:custGeom>
              <a:avLst/>
              <a:gdLst/>
              <a:ahLst/>
              <a:cxnLst/>
              <a:rect r="r" b="b" t="t" l="l"/>
              <a:pathLst>
                <a:path h="1003728" w="6156960">
                  <a:moveTo>
                    <a:pt x="0" y="167288"/>
                  </a:moveTo>
                  <a:cubicBezTo>
                    <a:pt x="0" y="74899"/>
                    <a:pt x="50927" y="0"/>
                    <a:pt x="113665" y="0"/>
                  </a:cubicBezTo>
                  <a:lnTo>
                    <a:pt x="6043295" y="0"/>
                  </a:lnTo>
                  <a:cubicBezTo>
                    <a:pt x="6106033" y="0"/>
                    <a:pt x="6156960" y="74899"/>
                    <a:pt x="6156960" y="167288"/>
                  </a:cubicBezTo>
                  <a:lnTo>
                    <a:pt x="6156960" y="836440"/>
                  </a:lnTo>
                  <a:cubicBezTo>
                    <a:pt x="6156960" y="928829"/>
                    <a:pt x="6106033" y="1003728"/>
                    <a:pt x="6043295" y="1003728"/>
                  </a:cubicBezTo>
                  <a:lnTo>
                    <a:pt x="113665" y="1003728"/>
                  </a:lnTo>
                  <a:cubicBezTo>
                    <a:pt x="50927" y="1003728"/>
                    <a:pt x="0" y="928829"/>
                    <a:pt x="0" y="836440"/>
                  </a:cubicBezTo>
                  <a:close/>
                </a:path>
              </a:pathLst>
            </a:custGeom>
            <a:solidFill>
              <a:srgbClr val="121B32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169660" cy="1022738"/>
            </a:xfrm>
            <a:custGeom>
              <a:avLst/>
              <a:gdLst/>
              <a:ahLst/>
              <a:cxnLst/>
              <a:rect r="r" b="b" t="t" l="l"/>
              <a:pathLst>
                <a:path h="1022738" w="6169660">
                  <a:moveTo>
                    <a:pt x="0" y="176793"/>
                  </a:moveTo>
                  <a:cubicBezTo>
                    <a:pt x="0" y="79082"/>
                    <a:pt x="53848" y="0"/>
                    <a:pt x="120015" y="0"/>
                  </a:cubicBezTo>
                  <a:lnTo>
                    <a:pt x="6049645" y="0"/>
                  </a:lnTo>
                  <a:lnTo>
                    <a:pt x="6049645" y="9505"/>
                  </a:lnTo>
                  <a:lnTo>
                    <a:pt x="6049645" y="0"/>
                  </a:lnTo>
                  <a:cubicBezTo>
                    <a:pt x="6115812" y="0"/>
                    <a:pt x="6169660" y="79082"/>
                    <a:pt x="6169660" y="176793"/>
                  </a:cubicBezTo>
                  <a:lnTo>
                    <a:pt x="6163310" y="176793"/>
                  </a:lnTo>
                  <a:lnTo>
                    <a:pt x="6169660" y="176793"/>
                  </a:lnTo>
                  <a:lnTo>
                    <a:pt x="6169660" y="845945"/>
                  </a:lnTo>
                  <a:lnTo>
                    <a:pt x="6163310" y="845945"/>
                  </a:lnTo>
                  <a:lnTo>
                    <a:pt x="6169660" y="845945"/>
                  </a:lnTo>
                  <a:cubicBezTo>
                    <a:pt x="6169660" y="943656"/>
                    <a:pt x="6115812" y="1022738"/>
                    <a:pt x="6049645" y="1022738"/>
                  </a:cubicBezTo>
                  <a:lnTo>
                    <a:pt x="6049645" y="1013233"/>
                  </a:lnTo>
                  <a:lnTo>
                    <a:pt x="6049645" y="1022738"/>
                  </a:lnTo>
                  <a:lnTo>
                    <a:pt x="120015" y="1022738"/>
                  </a:lnTo>
                  <a:lnTo>
                    <a:pt x="120015" y="1013233"/>
                  </a:lnTo>
                  <a:lnTo>
                    <a:pt x="120015" y="1022738"/>
                  </a:lnTo>
                  <a:cubicBezTo>
                    <a:pt x="53848" y="1022738"/>
                    <a:pt x="0" y="943656"/>
                    <a:pt x="0" y="845945"/>
                  </a:cubicBezTo>
                  <a:lnTo>
                    <a:pt x="0" y="176793"/>
                  </a:lnTo>
                  <a:lnTo>
                    <a:pt x="6350" y="176793"/>
                  </a:lnTo>
                  <a:lnTo>
                    <a:pt x="0" y="176793"/>
                  </a:lnTo>
                  <a:moveTo>
                    <a:pt x="12700" y="176793"/>
                  </a:moveTo>
                  <a:lnTo>
                    <a:pt x="12700" y="845945"/>
                  </a:lnTo>
                  <a:lnTo>
                    <a:pt x="6350" y="845945"/>
                  </a:lnTo>
                  <a:lnTo>
                    <a:pt x="12700" y="845945"/>
                  </a:lnTo>
                  <a:cubicBezTo>
                    <a:pt x="12700" y="933011"/>
                    <a:pt x="60579" y="1003728"/>
                    <a:pt x="120015" y="1003728"/>
                  </a:cubicBezTo>
                  <a:lnTo>
                    <a:pt x="6049645" y="1003728"/>
                  </a:lnTo>
                  <a:cubicBezTo>
                    <a:pt x="6108954" y="1003728"/>
                    <a:pt x="6156960" y="933011"/>
                    <a:pt x="6156960" y="845945"/>
                  </a:cubicBezTo>
                  <a:lnTo>
                    <a:pt x="6156960" y="176793"/>
                  </a:lnTo>
                  <a:cubicBezTo>
                    <a:pt x="6156960" y="89727"/>
                    <a:pt x="6109081" y="19010"/>
                    <a:pt x="6049645" y="19010"/>
                  </a:cubicBezTo>
                  <a:lnTo>
                    <a:pt x="120015" y="19010"/>
                  </a:lnTo>
                  <a:lnTo>
                    <a:pt x="120015" y="9505"/>
                  </a:lnTo>
                  <a:lnTo>
                    <a:pt x="120015" y="19010"/>
                  </a:lnTo>
                  <a:cubicBezTo>
                    <a:pt x="60579" y="19010"/>
                    <a:pt x="12700" y="89727"/>
                    <a:pt x="12700" y="176793"/>
                  </a:cubicBezTo>
                  <a:close/>
                </a:path>
              </a:pathLst>
            </a:custGeom>
            <a:solidFill>
              <a:srgbClr val="28385B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426500" y="4848599"/>
            <a:ext cx="589803" cy="589803"/>
            <a:chOff x="0" y="0"/>
            <a:chExt cx="524256" cy="5242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24256" cy="524256"/>
            </a:xfrm>
            <a:custGeom>
              <a:avLst/>
              <a:gdLst/>
              <a:ahLst/>
              <a:cxnLst/>
              <a:rect r="r" b="b" t="t" l="l"/>
              <a:pathLst>
                <a:path h="524256" w="524256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cubicBezTo>
                    <a:pt x="406908" y="0"/>
                    <a:pt x="524256" y="117348"/>
                    <a:pt x="524256" y="262128"/>
                  </a:cubicBezTo>
                  <a:cubicBezTo>
                    <a:pt x="524256" y="406908"/>
                    <a:pt x="406908" y="524256"/>
                    <a:pt x="262128" y="524256"/>
                  </a:cubicBezTo>
                  <a:cubicBezTo>
                    <a:pt x="117348" y="524256"/>
                    <a:pt x="0" y="406908"/>
                    <a:pt x="0" y="262128"/>
                  </a:cubicBezTo>
                  <a:close/>
                </a:path>
              </a:pathLst>
            </a:custGeom>
            <a:solidFill>
              <a:srgbClr val="5A86E5"/>
            </a:solid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524256" cy="533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2222048" y="4867062"/>
            <a:ext cx="5664850" cy="610751"/>
            <a:chOff x="0" y="0"/>
            <a:chExt cx="7553133" cy="814335"/>
          </a:xfrm>
        </p:grpSpPr>
        <p:grpSp>
          <p:nvGrpSpPr>
            <p:cNvPr name="Group 119" id="119"/>
            <p:cNvGrpSpPr/>
            <p:nvPr/>
          </p:nvGrpSpPr>
          <p:grpSpPr>
            <a:xfrm rot="0">
              <a:off x="0" y="54865"/>
              <a:ext cx="42063" cy="347481"/>
              <a:chOff x="0" y="0"/>
              <a:chExt cx="28042" cy="231648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28067" cy="231648"/>
              </a:xfrm>
              <a:custGeom>
                <a:avLst/>
                <a:gdLst/>
                <a:ahLst/>
                <a:cxnLst/>
                <a:rect r="r" b="b" t="t" l="l"/>
                <a:pathLst>
                  <a:path h="231648" w="28067">
                    <a:moveTo>
                      <a:pt x="0" y="0"/>
                    </a:moveTo>
                    <a:lnTo>
                      <a:pt x="28067" y="0"/>
                    </a:lnTo>
                    <a:lnTo>
                      <a:pt x="28067" y="231648"/>
                    </a:lnTo>
                    <a:lnTo>
                      <a:pt x="0" y="231648"/>
                    </a:lnTo>
                    <a:close/>
                  </a:path>
                </a:pathLst>
              </a:custGeom>
              <a:solidFill>
                <a:srgbClr val="5A86E5"/>
              </a:solidFill>
            </p:spPr>
          </p:sp>
        </p:grpSp>
        <p:sp>
          <p:nvSpPr>
            <p:cNvPr name="TextBox 121" id="121"/>
            <p:cNvSpPr txBox="true"/>
            <p:nvPr/>
          </p:nvSpPr>
          <p:spPr>
            <a:xfrm rot="0">
              <a:off x="329192" y="-19050"/>
              <a:ext cx="7223941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5A86E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EVALUATION PLAN</a:t>
              </a:r>
            </a:p>
          </p:txBody>
        </p:sp>
        <p:sp>
          <p:nvSpPr>
            <p:cNvPr name="TextBox 122" id="122"/>
            <p:cNvSpPr txBox="true"/>
            <p:nvPr/>
          </p:nvSpPr>
          <p:spPr>
            <a:xfrm rot="0">
              <a:off x="329192" y="373010"/>
              <a:ext cx="7223941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F8FA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평가 계획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731460" y="4600375"/>
            <a:ext cx="6941041" cy="1065222"/>
            <a:chOff x="0" y="0"/>
            <a:chExt cx="9254721" cy="1420296"/>
          </a:xfrm>
        </p:grpSpPr>
        <p:grpSp>
          <p:nvGrpSpPr>
            <p:cNvPr name="Group 124" id="124"/>
            <p:cNvGrpSpPr/>
            <p:nvPr/>
          </p:nvGrpSpPr>
          <p:grpSpPr>
            <a:xfrm rot="0">
              <a:off x="0" y="0"/>
              <a:ext cx="9254721" cy="1420296"/>
              <a:chOff x="0" y="0"/>
              <a:chExt cx="6169660" cy="946840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6350" y="8800"/>
                <a:ext cx="6156960" cy="929241"/>
              </a:xfrm>
              <a:custGeom>
                <a:avLst/>
                <a:gdLst/>
                <a:ahLst/>
                <a:cxnLst/>
                <a:rect r="r" b="b" t="t" l="l"/>
                <a:pathLst>
                  <a:path h="929241" w="6156960">
                    <a:moveTo>
                      <a:pt x="0" y="154873"/>
                    </a:moveTo>
                    <a:cubicBezTo>
                      <a:pt x="0" y="69341"/>
                      <a:pt x="50927" y="0"/>
                      <a:pt x="113665" y="0"/>
                    </a:cubicBezTo>
                    <a:lnTo>
                      <a:pt x="6043295" y="0"/>
                    </a:lnTo>
                    <a:cubicBezTo>
                      <a:pt x="6106033" y="0"/>
                      <a:pt x="6156960" y="69341"/>
                      <a:pt x="6156960" y="154873"/>
                    </a:cubicBezTo>
                    <a:lnTo>
                      <a:pt x="6156960" y="774367"/>
                    </a:lnTo>
                    <a:cubicBezTo>
                      <a:pt x="6156960" y="859899"/>
                      <a:pt x="6106033" y="929241"/>
                      <a:pt x="6043295" y="929241"/>
                    </a:cubicBezTo>
                    <a:lnTo>
                      <a:pt x="113665" y="929241"/>
                    </a:lnTo>
                    <a:cubicBezTo>
                      <a:pt x="50927" y="929241"/>
                      <a:pt x="0" y="859899"/>
                      <a:pt x="0" y="774367"/>
                    </a:cubicBezTo>
                    <a:close/>
                  </a:path>
                </a:pathLst>
              </a:custGeom>
              <a:solidFill>
                <a:srgbClr val="121B32"/>
              </a:solidFill>
            </p:spPr>
          </p:sp>
          <p:sp>
            <p:nvSpPr>
              <p:cNvPr name="Freeform 126" id="126"/>
              <p:cNvSpPr/>
              <p:nvPr/>
            </p:nvSpPr>
            <p:spPr>
              <a:xfrm flipH="false" flipV="false" rot="0">
                <a:off x="0" y="0"/>
                <a:ext cx="6169660" cy="946840"/>
              </a:xfrm>
              <a:custGeom>
                <a:avLst/>
                <a:gdLst/>
                <a:ahLst/>
                <a:cxnLst/>
                <a:rect r="r" b="b" t="t" l="l"/>
                <a:pathLst>
                  <a:path h="946840" w="6169660">
                    <a:moveTo>
                      <a:pt x="0" y="163673"/>
                    </a:moveTo>
                    <a:cubicBezTo>
                      <a:pt x="0" y="73213"/>
                      <a:pt x="53848" y="0"/>
                      <a:pt x="120015" y="0"/>
                    </a:cubicBezTo>
                    <a:lnTo>
                      <a:pt x="6049645" y="0"/>
                    </a:lnTo>
                    <a:lnTo>
                      <a:pt x="6049645" y="8800"/>
                    </a:lnTo>
                    <a:lnTo>
                      <a:pt x="6049645" y="0"/>
                    </a:lnTo>
                    <a:cubicBezTo>
                      <a:pt x="6115812" y="0"/>
                      <a:pt x="6169660" y="73213"/>
                      <a:pt x="6169660" y="163673"/>
                    </a:cubicBezTo>
                    <a:lnTo>
                      <a:pt x="6163310" y="163673"/>
                    </a:lnTo>
                    <a:lnTo>
                      <a:pt x="6169660" y="163673"/>
                    </a:lnTo>
                    <a:lnTo>
                      <a:pt x="6169660" y="783167"/>
                    </a:lnTo>
                    <a:lnTo>
                      <a:pt x="6163310" y="783167"/>
                    </a:lnTo>
                    <a:lnTo>
                      <a:pt x="6169660" y="783167"/>
                    </a:lnTo>
                    <a:cubicBezTo>
                      <a:pt x="6169660" y="873627"/>
                      <a:pt x="6115812" y="946840"/>
                      <a:pt x="6049645" y="946840"/>
                    </a:cubicBezTo>
                    <a:lnTo>
                      <a:pt x="6049645" y="938041"/>
                    </a:lnTo>
                    <a:lnTo>
                      <a:pt x="6049645" y="946840"/>
                    </a:lnTo>
                    <a:lnTo>
                      <a:pt x="120015" y="946840"/>
                    </a:lnTo>
                    <a:lnTo>
                      <a:pt x="120015" y="938041"/>
                    </a:lnTo>
                    <a:lnTo>
                      <a:pt x="120015" y="946840"/>
                    </a:lnTo>
                    <a:cubicBezTo>
                      <a:pt x="53848" y="946840"/>
                      <a:pt x="0" y="873627"/>
                      <a:pt x="0" y="783167"/>
                    </a:cubicBezTo>
                    <a:lnTo>
                      <a:pt x="0" y="163673"/>
                    </a:lnTo>
                    <a:lnTo>
                      <a:pt x="6350" y="163673"/>
                    </a:lnTo>
                    <a:lnTo>
                      <a:pt x="0" y="163673"/>
                    </a:lnTo>
                    <a:moveTo>
                      <a:pt x="12700" y="163673"/>
                    </a:moveTo>
                    <a:lnTo>
                      <a:pt x="12700" y="783167"/>
                    </a:lnTo>
                    <a:lnTo>
                      <a:pt x="6350" y="783167"/>
                    </a:lnTo>
                    <a:lnTo>
                      <a:pt x="12700" y="783167"/>
                    </a:lnTo>
                    <a:cubicBezTo>
                      <a:pt x="12700" y="863772"/>
                      <a:pt x="60579" y="929241"/>
                      <a:pt x="120015" y="929241"/>
                    </a:cubicBezTo>
                    <a:lnTo>
                      <a:pt x="6049645" y="929241"/>
                    </a:lnTo>
                    <a:cubicBezTo>
                      <a:pt x="6108954" y="929241"/>
                      <a:pt x="6156960" y="863772"/>
                      <a:pt x="6156960" y="783167"/>
                    </a:cubicBezTo>
                    <a:lnTo>
                      <a:pt x="6156960" y="163673"/>
                    </a:lnTo>
                    <a:cubicBezTo>
                      <a:pt x="6156960" y="83069"/>
                      <a:pt x="6109081" y="17599"/>
                      <a:pt x="6049645" y="17599"/>
                    </a:cubicBezTo>
                    <a:lnTo>
                      <a:pt x="120015" y="17599"/>
                    </a:lnTo>
                    <a:lnTo>
                      <a:pt x="120015" y="8800"/>
                    </a:lnTo>
                    <a:lnTo>
                      <a:pt x="120015" y="17599"/>
                    </a:lnTo>
                    <a:cubicBezTo>
                      <a:pt x="60579" y="17599"/>
                      <a:pt x="12700" y="83069"/>
                      <a:pt x="12700" y="163673"/>
                    </a:cubicBezTo>
                    <a:close/>
                  </a:path>
                </a:pathLst>
              </a:custGeom>
              <a:solidFill>
                <a:srgbClr val="28385B"/>
              </a:solidFill>
            </p:spPr>
          </p:sp>
        </p:grpSp>
        <p:grpSp>
          <p:nvGrpSpPr>
            <p:cNvPr name="Group 127" id="127"/>
            <p:cNvGrpSpPr/>
            <p:nvPr/>
          </p:nvGrpSpPr>
          <p:grpSpPr>
            <a:xfrm rot="0">
              <a:off x="357006" y="247275"/>
              <a:ext cx="786404" cy="786404"/>
              <a:chOff x="0" y="0"/>
              <a:chExt cx="524256" cy="524256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524256" cy="524256"/>
              </a:xfrm>
              <a:custGeom>
                <a:avLst/>
                <a:gdLst/>
                <a:ahLst/>
                <a:cxnLst/>
                <a:rect r="r" b="b" t="t" l="l"/>
                <a:pathLst>
                  <a:path h="524256" w="524256">
                    <a:moveTo>
                      <a:pt x="0" y="262128"/>
                    </a:moveTo>
                    <a:cubicBezTo>
                      <a:pt x="0" y="117348"/>
                      <a:pt x="117348" y="0"/>
                      <a:pt x="262128" y="0"/>
                    </a:cubicBezTo>
                    <a:cubicBezTo>
                      <a:pt x="406908" y="0"/>
                      <a:pt x="524256" y="117348"/>
                      <a:pt x="524256" y="262128"/>
                    </a:cubicBezTo>
                    <a:cubicBezTo>
                      <a:pt x="524256" y="406908"/>
                      <a:pt x="406908" y="524256"/>
                      <a:pt x="262128" y="524256"/>
                    </a:cubicBezTo>
                    <a:cubicBezTo>
                      <a:pt x="117348" y="524256"/>
                      <a:pt x="0" y="406908"/>
                      <a:pt x="0" y="262128"/>
                    </a:cubicBezTo>
                    <a:close/>
                  </a:path>
                </a:pathLst>
              </a:custGeom>
              <a:solidFill>
                <a:srgbClr val="5A86E5"/>
              </a:solidFill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0" y="-9525"/>
                <a:ext cx="524256" cy="5337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8FA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04</a:t>
                </a:r>
              </a:p>
            </p:txBody>
          </p:sp>
        </p:grpSp>
        <p:grpSp>
          <p:nvGrpSpPr>
            <p:cNvPr name="Group 130" id="130"/>
            <p:cNvGrpSpPr/>
            <p:nvPr/>
          </p:nvGrpSpPr>
          <p:grpSpPr>
            <a:xfrm rot="0">
              <a:off x="1417736" y="338717"/>
              <a:ext cx="42063" cy="347481"/>
              <a:chOff x="0" y="0"/>
              <a:chExt cx="28042" cy="231648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28067" cy="231648"/>
              </a:xfrm>
              <a:custGeom>
                <a:avLst/>
                <a:gdLst/>
                <a:ahLst/>
                <a:cxnLst/>
                <a:rect r="r" b="b" t="t" l="l"/>
                <a:pathLst>
                  <a:path h="231648" w="28067">
                    <a:moveTo>
                      <a:pt x="0" y="0"/>
                    </a:moveTo>
                    <a:lnTo>
                      <a:pt x="28067" y="0"/>
                    </a:lnTo>
                    <a:lnTo>
                      <a:pt x="28067" y="231648"/>
                    </a:lnTo>
                    <a:lnTo>
                      <a:pt x="0" y="231648"/>
                    </a:lnTo>
                    <a:close/>
                  </a:path>
                </a:pathLst>
              </a:custGeom>
              <a:solidFill>
                <a:srgbClr val="5A86E5"/>
              </a:solidFill>
            </p:spPr>
          </p:sp>
        </p:grpSp>
        <p:sp>
          <p:nvSpPr>
            <p:cNvPr name="TextBox 132" id="132"/>
            <p:cNvSpPr txBox="true"/>
            <p:nvPr/>
          </p:nvSpPr>
          <p:spPr>
            <a:xfrm rot="0">
              <a:off x="1746929" y="264802"/>
              <a:ext cx="7223941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5A86E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PROGRESS STATUS (1/2)</a:t>
              </a:r>
            </a:p>
          </p:txBody>
        </p:sp>
        <p:sp>
          <p:nvSpPr>
            <p:cNvPr name="TextBox 133" id="133"/>
            <p:cNvSpPr txBox="true"/>
            <p:nvPr/>
          </p:nvSpPr>
          <p:spPr>
            <a:xfrm rot="0">
              <a:off x="1746929" y="666387"/>
              <a:ext cx="7223941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8"/>
                </a:lnSpc>
              </a:pPr>
              <a:r>
                <a:rPr lang="en-US" sz="2415" b="true">
                  <a:solidFill>
                    <a:srgbClr val="F8FA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구현 완료 항목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158745" y="5983872"/>
            <a:ext cx="6941041" cy="1073165"/>
            <a:chOff x="0" y="0"/>
            <a:chExt cx="6169660" cy="95390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6350" y="8865"/>
              <a:ext cx="6156960" cy="936170"/>
            </a:xfrm>
            <a:custGeom>
              <a:avLst/>
              <a:gdLst/>
              <a:ahLst/>
              <a:cxnLst/>
              <a:rect r="r" b="b" t="t" l="l"/>
              <a:pathLst>
                <a:path h="936170" w="6156960">
                  <a:moveTo>
                    <a:pt x="0" y="156029"/>
                  </a:moveTo>
                  <a:cubicBezTo>
                    <a:pt x="0" y="69858"/>
                    <a:pt x="50927" y="0"/>
                    <a:pt x="113665" y="0"/>
                  </a:cubicBezTo>
                  <a:lnTo>
                    <a:pt x="6043295" y="0"/>
                  </a:lnTo>
                  <a:cubicBezTo>
                    <a:pt x="6106033" y="0"/>
                    <a:pt x="6156960" y="69858"/>
                    <a:pt x="6156960" y="156029"/>
                  </a:cubicBezTo>
                  <a:lnTo>
                    <a:pt x="6156960" y="780142"/>
                  </a:lnTo>
                  <a:cubicBezTo>
                    <a:pt x="6156960" y="866312"/>
                    <a:pt x="6106033" y="936171"/>
                    <a:pt x="6043295" y="936171"/>
                  </a:cubicBezTo>
                  <a:lnTo>
                    <a:pt x="113665" y="936171"/>
                  </a:lnTo>
                  <a:cubicBezTo>
                    <a:pt x="50927" y="936171"/>
                    <a:pt x="0" y="866312"/>
                    <a:pt x="0" y="780142"/>
                  </a:cubicBezTo>
                  <a:close/>
                </a:path>
              </a:pathLst>
            </a:custGeom>
            <a:solidFill>
              <a:srgbClr val="121B32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169660" cy="953901"/>
            </a:xfrm>
            <a:custGeom>
              <a:avLst/>
              <a:gdLst/>
              <a:ahLst/>
              <a:cxnLst/>
              <a:rect r="r" b="b" t="t" l="l"/>
              <a:pathLst>
                <a:path h="953901" w="6169660">
                  <a:moveTo>
                    <a:pt x="0" y="164894"/>
                  </a:moveTo>
                  <a:cubicBezTo>
                    <a:pt x="0" y="73759"/>
                    <a:pt x="53848" y="0"/>
                    <a:pt x="120015" y="0"/>
                  </a:cubicBezTo>
                  <a:lnTo>
                    <a:pt x="6049645" y="0"/>
                  </a:lnTo>
                  <a:lnTo>
                    <a:pt x="6049645" y="8865"/>
                  </a:lnTo>
                  <a:lnTo>
                    <a:pt x="6049645" y="0"/>
                  </a:lnTo>
                  <a:cubicBezTo>
                    <a:pt x="6115812" y="0"/>
                    <a:pt x="6169660" y="73759"/>
                    <a:pt x="6169660" y="164894"/>
                  </a:cubicBezTo>
                  <a:lnTo>
                    <a:pt x="6163310" y="164894"/>
                  </a:lnTo>
                  <a:lnTo>
                    <a:pt x="6169660" y="164894"/>
                  </a:lnTo>
                  <a:lnTo>
                    <a:pt x="6169660" y="789007"/>
                  </a:lnTo>
                  <a:lnTo>
                    <a:pt x="6163310" y="789007"/>
                  </a:lnTo>
                  <a:lnTo>
                    <a:pt x="6169660" y="789007"/>
                  </a:lnTo>
                  <a:cubicBezTo>
                    <a:pt x="6169660" y="880142"/>
                    <a:pt x="6115812" y="953901"/>
                    <a:pt x="6049645" y="953901"/>
                  </a:cubicBezTo>
                  <a:lnTo>
                    <a:pt x="6049645" y="945036"/>
                  </a:lnTo>
                  <a:lnTo>
                    <a:pt x="6049645" y="953901"/>
                  </a:lnTo>
                  <a:lnTo>
                    <a:pt x="120015" y="953901"/>
                  </a:lnTo>
                  <a:lnTo>
                    <a:pt x="120015" y="945036"/>
                  </a:lnTo>
                  <a:lnTo>
                    <a:pt x="120015" y="953901"/>
                  </a:lnTo>
                  <a:cubicBezTo>
                    <a:pt x="53848" y="953901"/>
                    <a:pt x="0" y="880142"/>
                    <a:pt x="0" y="789007"/>
                  </a:cubicBezTo>
                  <a:lnTo>
                    <a:pt x="0" y="164894"/>
                  </a:lnTo>
                  <a:lnTo>
                    <a:pt x="6350" y="164894"/>
                  </a:lnTo>
                  <a:lnTo>
                    <a:pt x="0" y="164894"/>
                  </a:lnTo>
                  <a:moveTo>
                    <a:pt x="12700" y="164894"/>
                  </a:moveTo>
                  <a:lnTo>
                    <a:pt x="12700" y="789007"/>
                  </a:lnTo>
                  <a:lnTo>
                    <a:pt x="6350" y="789007"/>
                  </a:lnTo>
                  <a:lnTo>
                    <a:pt x="12700" y="789007"/>
                  </a:lnTo>
                  <a:cubicBezTo>
                    <a:pt x="12700" y="870213"/>
                    <a:pt x="60579" y="936170"/>
                    <a:pt x="120015" y="936170"/>
                  </a:cubicBezTo>
                  <a:lnTo>
                    <a:pt x="6049645" y="936170"/>
                  </a:lnTo>
                  <a:cubicBezTo>
                    <a:pt x="6108954" y="936170"/>
                    <a:pt x="6156960" y="870213"/>
                    <a:pt x="6156960" y="789007"/>
                  </a:cubicBezTo>
                  <a:lnTo>
                    <a:pt x="6156960" y="164894"/>
                  </a:lnTo>
                  <a:cubicBezTo>
                    <a:pt x="6156960" y="83688"/>
                    <a:pt x="6109081" y="17730"/>
                    <a:pt x="6049645" y="17730"/>
                  </a:cubicBezTo>
                  <a:lnTo>
                    <a:pt x="120015" y="17730"/>
                  </a:lnTo>
                  <a:lnTo>
                    <a:pt x="120015" y="8865"/>
                  </a:lnTo>
                  <a:lnTo>
                    <a:pt x="120015" y="17730"/>
                  </a:lnTo>
                  <a:cubicBezTo>
                    <a:pt x="60579" y="17730"/>
                    <a:pt x="12700" y="83688"/>
                    <a:pt x="12700" y="164894"/>
                  </a:cubicBezTo>
                  <a:close/>
                </a:path>
              </a:pathLst>
            </a:custGeom>
            <a:solidFill>
              <a:srgbClr val="28385B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426500" y="6199766"/>
            <a:ext cx="589803" cy="589803"/>
            <a:chOff x="0" y="0"/>
            <a:chExt cx="524256" cy="52425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24256" cy="524256"/>
            </a:xfrm>
            <a:custGeom>
              <a:avLst/>
              <a:gdLst/>
              <a:ahLst/>
              <a:cxnLst/>
              <a:rect r="r" b="b" t="t" l="l"/>
              <a:pathLst>
                <a:path h="524256" w="524256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cubicBezTo>
                    <a:pt x="406908" y="0"/>
                    <a:pt x="524256" y="117348"/>
                    <a:pt x="524256" y="262128"/>
                  </a:cubicBezTo>
                  <a:cubicBezTo>
                    <a:pt x="524256" y="406908"/>
                    <a:pt x="406908" y="524256"/>
                    <a:pt x="262128" y="524256"/>
                  </a:cubicBezTo>
                  <a:cubicBezTo>
                    <a:pt x="117348" y="524256"/>
                    <a:pt x="0" y="406908"/>
                    <a:pt x="0" y="262128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524256" cy="533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2190500" y="6218345"/>
            <a:ext cx="31548" cy="260611"/>
            <a:chOff x="0" y="0"/>
            <a:chExt cx="28042" cy="23164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8067" cy="231648"/>
            </a:xfrm>
            <a:custGeom>
              <a:avLst/>
              <a:gdLst/>
              <a:ahLst/>
              <a:cxnLst/>
              <a:rect r="r" b="b" t="t" l="l"/>
              <a:pathLst>
                <a:path h="231648" w="28067">
                  <a:moveTo>
                    <a:pt x="0" y="0"/>
                  </a:moveTo>
                  <a:lnTo>
                    <a:pt x="28067" y="0"/>
                  </a:lnTo>
                  <a:lnTo>
                    <a:pt x="28067" y="231648"/>
                  </a:lnTo>
                  <a:lnTo>
                    <a:pt x="0" y="231648"/>
                  </a:lnTo>
                  <a:close/>
                </a:path>
              </a:pathLst>
            </a:custGeom>
            <a:solidFill>
              <a:srgbClr val="4BBE8A"/>
            </a:solidFill>
          </p:spPr>
        </p:sp>
      </p:grpSp>
      <p:sp>
        <p:nvSpPr>
          <p:cNvPr name="TextBox 142" id="142"/>
          <p:cNvSpPr txBox="true"/>
          <p:nvPr/>
        </p:nvSpPr>
        <p:spPr>
          <a:xfrm rot="0">
            <a:off x="2463145" y="6199295"/>
            <a:ext cx="541795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BBE8A"/>
                </a:solidFill>
                <a:latin typeface="Arial Bold"/>
                <a:ea typeface="Arial Bold"/>
                <a:cs typeface="Arial Bold"/>
                <a:sym typeface="Arial Bold"/>
              </a:rPr>
              <a:t>PROGRESS STATUS (2/2)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2463145" y="6509051"/>
            <a:ext cx="541795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F8FA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구현 중 항목 · 이슈 관리</a:t>
            </a:r>
          </a:p>
        </p:txBody>
      </p:sp>
      <p:grpSp>
        <p:nvGrpSpPr>
          <p:cNvPr name="Group 144" id="144"/>
          <p:cNvGrpSpPr/>
          <p:nvPr/>
        </p:nvGrpSpPr>
        <p:grpSpPr>
          <a:xfrm rot="0">
            <a:off x="9731460" y="5932297"/>
            <a:ext cx="6941041" cy="1124740"/>
            <a:chOff x="0" y="0"/>
            <a:chExt cx="6169660" cy="999744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6350" y="9291"/>
              <a:ext cx="6156960" cy="981161"/>
            </a:xfrm>
            <a:custGeom>
              <a:avLst/>
              <a:gdLst/>
              <a:ahLst/>
              <a:cxnLst/>
              <a:rect r="r" b="b" t="t" l="l"/>
              <a:pathLst>
                <a:path h="981161" w="6156960">
                  <a:moveTo>
                    <a:pt x="0" y="163527"/>
                  </a:moveTo>
                  <a:cubicBezTo>
                    <a:pt x="0" y="73216"/>
                    <a:pt x="50927" y="0"/>
                    <a:pt x="113665" y="0"/>
                  </a:cubicBezTo>
                  <a:lnTo>
                    <a:pt x="6043295" y="0"/>
                  </a:lnTo>
                  <a:cubicBezTo>
                    <a:pt x="6106033" y="0"/>
                    <a:pt x="6156960" y="73216"/>
                    <a:pt x="6156960" y="163527"/>
                  </a:cubicBezTo>
                  <a:lnTo>
                    <a:pt x="6156960" y="817635"/>
                  </a:lnTo>
                  <a:cubicBezTo>
                    <a:pt x="6156960" y="907946"/>
                    <a:pt x="6106033" y="981162"/>
                    <a:pt x="6043295" y="981162"/>
                  </a:cubicBezTo>
                  <a:lnTo>
                    <a:pt x="113665" y="981162"/>
                  </a:lnTo>
                  <a:cubicBezTo>
                    <a:pt x="50927" y="981162"/>
                    <a:pt x="0" y="907946"/>
                    <a:pt x="0" y="817635"/>
                  </a:cubicBezTo>
                  <a:close/>
                </a:path>
              </a:pathLst>
            </a:custGeom>
            <a:solidFill>
              <a:srgbClr val="121B32"/>
            </a:solidFill>
          </p:spPr>
        </p:sp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6169660" cy="999744"/>
            </a:xfrm>
            <a:custGeom>
              <a:avLst/>
              <a:gdLst/>
              <a:ahLst/>
              <a:cxnLst/>
              <a:rect r="r" b="b" t="t" l="l"/>
              <a:pathLst>
                <a:path h="999744" w="6169660">
                  <a:moveTo>
                    <a:pt x="0" y="172818"/>
                  </a:moveTo>
                  <a:cubicBezTo>
                    <a:pt x="0" y="77304"/>
                    <a:pt x="53848" y="0"/>
                    <a:pt x="120015" y="0"/>
                  </a:cubicBezTo>
                  <a:lnTo>
                    <a:pt x="6049645" y="0"/>
                  </a:lnTo>
                  <a:lnTo>
                    <a:pt x="6049645" y="9291"/>
                  </a:lnTo>
                  <a:lnTo>
                    <a:pt x="6049645" y="0"/>
                  </a:lnTo>
                  <a:cubicBezTo>
                    <a:pt x="6115812" y="0"/>
                    <a:pt x="6169660" y="77304"/>
                    <a:pt x="6169660" y="172818"/>
                  </a:cubicBezTo>
                  <a:lnTo>
                    <a:pt x="6163310" y="172818"/>
                  </a:lnTo>
                  <a:lnTo>
                    <a:pt x="6169660" y="172818"/>
                  </a:lnTo>
                  <a:lnTo>
                    <a:pt x="6169660" y="826926"/>
                  </a:lnTo>
                  <a:lnTo>
                    <a:pt x="6163310" y="826926"/>
                  </a:lnTo>
                  <a:lnTo>
                    <a:pt x="6169660" y="826926"/>
                  </a:lnTo>
                  <a:cubicBezTo>
                    <a:pt x="6169660" y="922440"/>
                    <a:pt x="6115812" y="999744"/>
                    <a:pt x="6049645" y="999744"/>
                  </a:cubicBezTo>
                  <a:lnTo>
                    <a:pt x="6049645" y="990453"/>
                  </a:lnTo>
                  <a:lnTo>
                    <a:pt x="6049645" y="999744"/>
                  </a:lnTo>
                  <a:lnTo>
                    <a:pt x="120015" y="999744"/>
                  </a:lnTo>
                  <a:lnTo>
                    <a:pt x="120015" y="990453"/>
                  </a:lnTo>
                  <a:lnTo>
                    <a:pt x="120015" y="999744"/>
                  </a:lnTo>
                  <a:cubicBezTo>
                    <a:pt x="53848" y="999744"/>
                    <a:pt x="0" y="922440"/>
                    <a:pt x="0" y="826926"/>
                  </a:cubicBezTo>
                  <a:lnTo>
                    <a:pt x="0" y="172818"/>
                  </a:lnTo>
                  <a:lnTo>
                    <a:pt x="6350" y="172818"/>
                  </a:lnTo>
                  <a:lnTo>
                    <a:pt x="0" y="172818"/>
                  </a:lnTo>
                  <a:moveTo>
                    <a:pt x="12700" y="172818"/>
                  </a:moveTo>
                  <a:lnTo>
                    <a:pt x="12700" y="826926"/>
                  </a:lnTo>
                  <a:lnTo>
                    <a:pt x="6350" y="826926"/>
                  </a:lnTo>
                  <a:lnTo>
                    <a:pt x="12700" y="826926"/>
                  </a:lnTo>
                  <a:cubicBezTo>
                    <a:pt x="12700" y="912034"/>
                    <a:pt x="60579" y="981161"/>
                    <a:pt x="120015" y="981161"/>
                  </a:cubicBezTo>
                  <a:lnTo>
                    <a:pt x="6049645" y="981161"/>
                  </a:lnTo>
                  <a:cubicBezTo>
                    <a:pt x="6108954" y="981161"/>
                    <a:pt x="6156960" y="912034"/>
                    <a:pt x="6156960" y="826926"/>
                  </a:cubicBezTo>
                  <a:lnTo>
                    <a:pt x="6156960" y="172818"/>
                  </a:lnTo>
                  <a:cubicBezTo>
                    <a:pt x="6156960" y="87710"/>
                    <a:pt x="6109081" y="18583"/>
                    <a:pt x="6049645" y="18583"/>
                  </a:cubicBezTo>
                  <a:lnTo>
                    <a:pt x="120015" y="18583"/>
                  </a:lnTo>
                  <a:lnTo>
                    <a:pt x="120015" y="9291"/>
                  </a:lnTo>
                  <a:lnTo>
                    <a:pt x="120015" y="18583"/>
                  </a:lnTo>
                  <a:cubicBezTo>
                    <a:pt x="60579" y="18583"/>
                    <a:pt x="12700" y="87710"/>
                    <a:pt x="12700" y="172818"/>
                  </a:cubicBezTo>
                  <a:close/>
                </a:path>
              </a:pathLst>
            </a:custGeom>
            <a:solidFill>
              <a:srgbClr val="28385B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999214" y="6117753"/>
            <a:ext cx="589803" cy="589803"/>
            <a:chOff x="0" y="0"/>
            <a:chExt cx="524256" cy="5242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24256" cy="524256"/>
            </a:xfrm>
            <a:custGeom>
              <a:avLst/>
              <a:gdLst/>
              <a:ahLst/>
              <a:cxnLst/>
              <a:rect r="r" b="b" t="t" l="l"/>
              <a:pathLst>
                <a:path h="524256" w="524256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cubicBezTo>
                    <a:pt x="406908" y="0"/>
                    <a:pt x="524256" y="117348"/>
                    <a:pt x="524256" y="262128"/>
                  </a:cubicBezTo>
                  <a:cubicBezTo>
                    <a:pt x="524256" y="406908"/>
                    <a:pt x="406908" y="524256"/>
                    <a:pt x="262128" y="524256"/>
                  </a:cubicBezTo>
                  <a:cubicBezTo>
                    <a:pt x="117348" y="524256"/>
                    <a:pt x="0" y="406908"/>
                    <a:pt x="0" y="262128"/>
                  </a:cubicBezTo>
                  <a:close/>
                </a:path>
              </a:pathLst>
            </a:custGeom>
            <a:solidFill>
              <a:srgbClr val="5A86E5"/>
            </a:solid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9525"/>
              <a:ext cx="524256" cy="533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0794762" y="6186335"/>
            <a:ext cx="31548" cy="260611"/>
            <a:chOff x="0" y="0"/>
            <a:chExt cx="28042" cy="23164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8067" cy="231648"/>
            </a:xfrm>
            <a:custGeom>
              <a:avLst/>
              <a:gdLst/>
              <a:ahLst/>
              <a:cxnLst/>
              <a:rect r="r" b="b" t="t" l="l"/>
              <a:pathLst>
                <a:path h="231648" w="28067">
                  <a:moveTo>
                    <a:pt x="0" y="0"/>
                  </a:moveTo>
                  <a:lnTo>
                    <a:pt x="28067" y="0"/>
                  </a:lnTo>
                  <a:lnTo>
                    <a:pt x="28067" y="231648"/>
                  </a:lnTo>
                  <a:lnTo>
                    <a:pt x="0" y="231648"/>
                  </a:lnTo>
                  <a:close/>
                </a:path>
              </a:pathLst>
            </a:custGeom>
            <a:solidFill>
              <a:srgbClr val="5A86E5"/>
            </a:solidFill>
          </p:spPr>
        </p:sp>
      </p:grpSp>
      <p:sp>
        <p:nvSpPr>
          <p:cNvPr name="TextBox 152" id="152"/>
          <p:cNvSpPr txBox="true"/>
          <p:nvPr/>
        </p:nvSpPr>
        <p:spPr>
          <a:xfrm rot="0">
            <a:off x="11041656" y="6126136"/>
            <a:ext cx="541795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A86E5"/>
                </a:solidFill>
                <a:latin typeface="Arial Bold"/>
                <a:ea typeface="Arial Bold"/>
                <a:cs typeface="Arial Bold"/>
                <a:sym typeface="Arial Bold"/>
              </a:rPr>
              <a:t>DEMO PRESENTATION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1041656" y="6422562"/>
            <a:ext cx="541795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8FA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시연 자료 및 주요 장면</a:t>
            </a:r>
          </a:p>
        </p:txBody>
      </p:sp>
      <p:grpSp>
        <p:nvGrpSpPr>
          <p:cNvPr name="Group 154" id="154"/>
          <p:cNvGrpSpPr/>
          <p:nvPr/>
        </p:nvGrpSpPr>
        <p:grpSpPr>
          <a:xfrm rot="0">
            <a:off x="1158745" y="7314076"/>
            <a:ext cx="6941041" cy="1162624"/>
            <a:chOff x="0" y="0"/>
            <a:chExt cx="6169660" cy="103341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6350" y="9604"/>
              <a:ext cx="6156960" cy="1014210"/>
            </a:xfrm>
            <a:custGeom>
              <a:avLst/>
              <a:gdLst/>
              <a:ahLst/>
              <a:cxnLst/>
              <a:rect r="r" b="b" t="t" l="l"/>
              <a:pathLst>
                <a:path h="1014210" w="6156960">
                  <a:moveTo>
                    <a:pt x="0" y="169035"/>
                  </a:moveTo>
                  <a:cubicBezTo>
                    <a:pt x="0" y="75682"/>
                    <a:pt x="50927" y="0"/>
                    <a:pt x="113665" y="0"/>
                  </a:cubicBezTo>
                  <a:lnTo>
                    <a:pt x="6043295" y="0"/>
                  </a:lnTo>
                  <a:cubicBezTo>
                    <a:pt x="6106033" y="0"/>
                    <a:pt x="6156960" y="75682"/>
                    <a:pt x="6156960" y="169035"/>
                  </a:cubicBezTo>
                  <a:lnTo>
                    <a:pt x="6156960" y="845175"/>
                  </a:lnTo>
                  <a:cubicBezTo>
                    <a:pt x="6156960" y="938528"/>
                    <a:pt x="6106033" y="1014210"/>
                    <a:pt x="6043295" y="1014210"/>
                  </a:cubicBezTo>
                  <a:lnTo>
                    <a:pt x="113665" y="1014210"/>
                  </a:lnTo>
                  <a:cubicBezTo>
                    <a:pt x="50927" y="1014210"/>
                    <a:pt x="0" y="938528"/>
                    <a:pt x="0" y="845175"/>
                  </a:cubicBezTo>
                  <a:close/>
                </a:path>
              </a:pathLst>
            </a:custGeom>
            <a:solidFill>
              <a:srgbClr val="121B32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6169660" cy="1033418"/>
            </a:xfrm>
            <a:custGeom>
              <a:avLst/>
              <a:gdLst/>
              <a:ahLst/>
              <a:cxnLst/>
              <a:rect r="r" b="b" t="t" l="l"/>
              <a:pathLst>
                <a:path h="1033418" w="6169660">
                  <a:moveTo>
                    <a:pt x="0" y="178639"/>
                  </a:moveTo>
                  <a:cubicBezTo>
                    <a:pt x="0" y="79907"/>
                    <a:pt x="53848" y="0"/>
                    <a:pt x="120015" y="0"/>
                  </a:cubicBezTo>
                  <a:lnTo>
                    <a:pt x="6049645" y="0"/>
                  </a:lnTo>
                  <a:lnTo>
                    <a:pt x="6049645" y="9604"/>
                  </a:lnTo>
                  <a:lnTo>
                    <a:pt x="6049645" y="0"/>
                  </a:lnTo>
                  <a:cubicBezTo>
                    <a:pt x="6115812" y="0"/>
                    <a:pt x="6169660" y="79907"/>
                    <a:pt x="6169660" y="178639"/>
                  </a:cubicBezTo>
                  <a:lnTo>
                    <a:pt x="6163310" y="178639"/>
                  </a:lnTo>
                  <a:lnTo>
                    <a:pt x="6169660" y="178639"/>
                  </a:lnTo>
                  <a:lnTo>
                    <a:pt x="6169660" y="854779"/>
                  </a:lnTo>
                  <a:lnTo>
                    <a:pt x="6163310" y="854779"/>
                  </a:lnTo>
                  <a:lnTo>
                    <a:pt x="6169660" y="854779"/>
                  </a:lnTo>
                  <a:cubicBezTo>
                    <a:pt x="6169660" y="953511"/>
                    <a:pt x="6115812" y="1033418"/>
                    <a:pt x="6049645" y="1033418"/>
                  </a:cubicBezTo>
                  <a:lnTo>
                    <a:pt x="6049645" y="1023814"/>
                  </a:lnTo>
                  <a:lnTo>
                    <a:pt x="6049645" y="1033418"/>
                  </a:lnTo>
                  <a:lnTo>
                    <a:pt x="120015" y="1033418"/>
                  </a:lnTo>
                  <a:lnTo>
                    <a:pt x="120015" y="1023814"/>
                  </a:lnTo>
                  <a:lnTo>
                    <a:pt x="120015" y="1033418"/>
                  </a:lnTo>
                  <a:cubicBezTo>
                    <a:pt x="53848" y="1033418"/>
                    <a:pt x="0" y="953511"/>
                    <a:pt x="0" y="854779"/>
                  </a:cubicBezTo>
                  <a:lnTo>
                    <a:pt x="0" y="178639"/>
                  </a:lnTo>
                  <a:lnTo>
                    <a:pt x="6350" y="178639"/>
                  </a:lnTo>
                  <a:lnTo>
                    <a:pt x="0" y="178639"/>
                  </a:lnTo>
                  <a:moveTo>
                    <a:pt x="12700" y="178639"/>
                  </a:moveTo>
                  <a:lnTo>
                    <a:pt x="12700" y="854779"/>
                  </a:lnTo>
                  <a:lnTo>
                    <a:pt x="6350" y="854779"/>
                  </a:lnTo>
                  <a:lnTo>
                    <a:pt x="12700" y="854779"/>
                  </a:lnTo>
                  <a:cubicBezTo>
                    <a:pt x="12700" y="942754"/>
                    <a:pt x="60579" y="1014210"/>
                    <a:pt x="120015" y="1014210"/>
                  </a:cubicBezTo>
                  <a:lnTo>
                    <a:pt x="6049645" y="1014210"/>
                  </a:lnTo>
                  <a:cubicBezTo>
                    <a:pt x="6108954" y="1014210"/>
                    <a:pt x="6156960" y="942754"/>
                    <a:pt x="6156960" y="854779"/>
                  </a:cubicBezTo>
                  <a:lnTo>
                    <a:pt x="6156960" y="178639"/>
                  </a:lnTo>
                  <a:cubicBezTo>
                    <a:pt x="6156960" y="90664"/>
                    <a:pt x="6109081" y="19209"/>
                    <a:pt x="6049645" y="19209"/>
                  </a:cubicBezTo>
                  <a:lnTo>
                    <a:pt x="120015" y="19209"/>
                  </a:lnTo>
                  <a:lnTo>
                    <a:pt x="120015" y="9604"/>
                  </a:lnTo>
                  <a:lnTo>
                    <a:pt x="120015" y="19209"/>
                  </a:lnTo>
                  <a:cubicBezTo>
                    <a:pt x="60579" y="19209"/>
                    <a:pt x="12700" y="90664"/>
                    <a:pt x="12700" y="178639"/>
                  </a:cubicBezTo>
                  <a:close/>
                </a:path>
              </a:pathLst>
            </a:custGeom>
            <a:solidFill>
              <a:srgbClr val="28385B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426500" y="7499532"/>
            <a:ext cx="589803" cy="589803"/>
            <a:chOff x="0" y="0"/>
            <a:chExt cx="524256" cy="524256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524256" cy="524256"/>
            </a:xfrm>
            <a:custGeom>
              <a:avLst/>
              <a:gdLst/>
              <a:ahLst/>
              <a:cxnLst/>
              <a:rect r="r" b="b" t="t" l="l"/>
              <a:pathLst>
                <a:path h="524256" w="524256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cubicBezTo>
                    <a:pt x="406908" y="0"/>
                    <a:pt x="524256" y="117348"/>
                    <a:pt x="524256" y="262128"/>
                  </a:cubicBezTo>
                  <a:cubicBezTo>
                    <a:pt x="524256" y="406908"/>
                    <a:pt x="406908" y="524256"/>
                    <a:pt x="262128" y="524256"/>
                  </a:cubicBezTo>
                  <a:cubicBezTo>
                    <a:pt x="117348" y="524256"/>
                    <a:pt x="0" y="406908"/>
                    <a:pt x="0" y="262128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9525"/>
              <a:ext cx="524256" cy="533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2206274" y="7495187"/>
            <a:ext cx="31548" cy="260611"/>
            <a:chOff x="0" y="0"/>
            <a:chExt cx="28042" cy="23164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8067" cy="231648"/>
            </a:xfrm>
            <a:custGeom>
              <a:avLst/>
              <a:gdLst/>
              <a:ahLst/>
              <a:cxnLst/>
              <a:rect r="r" b="b" t="t" l="l"/>
              <a:pathLst>
                <a:path h="231648" w="28067">
                  <a:moveTo>
                    <a:pt x="0" y="0"/>
                  </a:moveTo>
                  <a:lnTo>
                    <a:pt x="28067" y="0"/>
                  </a:lnTo>
                  <a:lnTo>
                    <a:pt x="28067" y="231648"/>
                  </a:lnTo>
                  <a:lnTo>
                    <a:pt x="0" y="231648"/>
                  </a:lnTo>
                  <a:close/>
                </a:path>
              </a:pathLst>
            </a:custGeom>
            <a:solidFill>
              <a:srgbClr val="4BBE8A"/>
            </a:solidFill>
          </p:spPr>
        </p:sp>
      </p:grpSp>
      <p:sp>
        <p:nvSpPr>
          <p:cNvPr name="TextBox 162" id="162"/>
          <p:cNvSpPr txBox="true"/>
          <p:nvPr/>
        </p:nvSpPr>
        <p:spPr>
          <a:xfrm rot="0">
            <a:off x="2468942" y="7507915"/>
            <a:ext cx="541795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BBE8A"/>
                </a:solidFill>
                <a:latin typeface="Arial Bold"/>
                <a:ea typeface="Arial Bold"/>
                <a:cs typeface="Arial Bold"/>
                <a:sym typeface="Arial Bold"/>
              </a:rPr>
              <a:t>LONG-TERM ROADMAP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2468942" y="7794816"/>
            <a:ext cx="541795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F8FA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장기 개발 계획</a:t>
            </a:r>
          </a:p>
        </p:txBody>
      </p:sp>
      <p:grpSp>
        <p:nvGrpSpPr>
          <p:cNvPr name="Group 164" id="164"/>
          <p:cNvGrpSpPr/>
          <p:nvPr/>
        </p:nvGrpSpPr>
        <p:grpSpPr>
          <a:xfrm rot="0">
            <a:off x="9731460" y="7324506"/>
            <a:ext cx="6941041" cy="1152194"/>
            <a:chOff x="0" y="0"/>
            <a:chExt cx="6169660" cy="1024147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6350" y="9518"/>
              <a:ext cx="6156960" cy="1005111"/>
            </a:xfrm>
            <a:custGeom>
              <a:avLst/>
              <a:gdLst/>
              <a:ahLst/>
              <a:cxnLst/>
              <a:rect r="r" b="b" t="t" l="l"/>
              <a:pathLst>
                <a:path h="1005111" w="6156960">
                  <a:moveTo>
                    <a:pt x="0" y="167519"/>
                  </a:moveTo>
                  <a:cubicBezTo>
                    <a:pt x="0" y="75003"/>
                    <a:pt x="50927" y="0"/>
                    <a:pt x="113665" y="0"/>
                  </a:cubicBezTo>
                  <a:lnTo>
                    <a:pt x="6043295" y="0"/>
                  </a:lnTo>
                  <a:cubicBezTo>
                    <a:pt x="6106033" y="0"/>
                    <a:pt x="6156960" y="75003"/>
                    <a:pt x="6156960" y="167519"/>
                  </a:cubicBezTo>
                  <a:lnTo>
                    <a:pt x="6156960" y="837593"/>
                  </a:lnTo>
                  <a:cubicBezTo>
                    <a:pt x="6156960" y="930108"/>
                    <a:pt x="6106033" y="1005111"/>
                    <a:pt x="6043295" y="1005111"/>
                  </a:cubicBezTo>
                  <a:lnTo>
                    <a:pt x="113665" y="1005111"/>
                  </a:lnTo>
                  <a:cubicBezTo>
                    <a:pt x="50927" y="1005111"/>
                    <a:pt x="0" y="930108"/>
                    <a:pt x="0" y="837593"/>
                  </a:cubicBezTo>
                  <a:close/>
                </a:path>
              </a:pathLst>
            </a:custGeom>
            <a:solidFill>
              <a:srgbClr val="121B32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6169660" cy="1024147"/>
            </a:xfrm>
            <a:custGeom>
              <a:avLst/>
              <a:gdLst/>
              <a:ahLst/>
              <a:cxnLst/>
              <a:rect r="r" b="b" t="t" l="l"/>
              <a:pathLst>
                <a:path h="1024147" w="6169660">
                  <a:moveTo>
                    <a:pt x="0" y="177037"/>
                  </a:moveTo>
                  <a:cubicBezTo>
                    <a:pt x="0" y="79191"/>
                    <a:pt x="53848" y="0"/>
                    <a:pt x="120015" y="0"/>
                  </a:cubicBezTo>
                  <a:lnTo>
                    <a:pt x="6049645" y="0"/>
                  </a:lnTo>
                  <a:lnTo>
                    <a:pt x="6049645" y="9518"/>
                  </a:lnTo>
                  <a:lnTo>
                    <a:pt x="6049645" y="0"/>
                  </a:lnTo>
                  <a:cubicBezTo>
                    <a:pt x="6115812" y="0"/>
                    <a:pt x="6169660" y="79191"/>
                    <a:pt x="6169660" y="177037"/>
                  </a:cubicBezTo>
                  <a:lnTo>
                    <a:pt x="6163310" y="177037"/>
                  </a:lnTo>
                  <a:lnTo>
                    <a:pt x="6169660" y="177037"/>
                  </a:lnTo>
                  <a:lnTo>
                    <a:pt x="6169660" y="847111"/>
                  </a:lnTo>
                  <a:lnTo>
                    <a:pt x="6163310" y="847111"/>
                  </a:lnTo>
                  <a:lnTo>
                    <a:pt x="6169660" y="847111"/>
                  </a:lnTo>
                  <a:cubicBezTo>
                    <a:pt x="6169660" y="944956"/>
                    <a:pt x="6115812" y="1024147"/>
                    <a:pt x="6049645" y="1024147"/>
                  </a:cubicBezTo>
                  <a:lnTo>
                    <a:pt x="6049645" y="1014629"/>
                  </a:lnTo>
                  <a:lnTo>
                    <a:pt x="6049645" y="1024147"/>
                  </a:lnTo>
                  <a:lnTo>
                    <a:pt x="120015" y="1024147"/>
                  </a:lnTo>
                  <a:lnTo>
                    <a:pt x="120015" y="1014629"/>
                  </a:lnTo>
                  <a:lnTo>
                    <a:pt x="120015" y="1024147"/>
                  </a:lnTo>
                  <a:cubicBezTo>
                    <a:pt x="53848" y="1024147"/>
                    <a:pt x="0" y="944956"/>
                    <a:pt x="0" y="847111"/>
                  </a:cubicBezTo>
                  <a:lnTo>
                    <a:pt x="0" y="177037"/>
                  </a:lnTo>
                  <a:lnTo>
                    <a:pt x="6350" y="177037"/>
                  </a:lnTo>
                  <a:lnTo>
                    <a:pt x="0" y="177037"/>
                  </a:lnTo>
                  <a:moveTo>
                    <a:pt x="12700" y="177037"/>
                  </a:moveTo>
                  <a:lnTo>
                    <a:pt x="12700" y="847111"/>
                  </a:lnTo>
                  <a:lnTo>
                    <a:pt x="6350" y="847111"/>
                  </a:lnTo>
                  <a:lnTo>
                    <a:pt x="12700" y="847111"/>
                  </a:lnTo>
                  <a:cubicBezTo>
                    <a:pt x="12700" y="934296"/>
                    <a:pt x="60579" y="1005111"/>
                    <a:pt x="120015" y="1005111"/>
                  </a:cubicBezTo>
                  <a:lnTo>
                    <a:pt x="6049645" y="1005111"/>
                  </a:lnTo>
                  <a:cubicBezTo>
                    <a:pt x="6108954" y="1005111"/>
                    <a:pt x="6156960" y="934296"/>
                    <a:pt x="6156960" y="847111"/>
                  </a:cubicBezTo>
                  <a:lnTo>
                    <a:pt x="6156960" y="177037"/>
                  </a:lnTo>
                  <a:cubicBezTo>
                    <a:pt x="6156960" y="89851"/>
                    <a:pt x="6109081" y="19036"/>
                    <a:pt x="6049645" y="19036"/>
                  </a:cubicBezTo>
                  <a:lnTo>
                    <a:pt x="120015" y="19036"/>
                  </a:lnTo>
                  <a:lnTo>
                    <a:pt x="120015" y="9518"/>
                  </a:lnTo>
                  <a:lnTo>
                    <a:pt x="120015" y="19036"/>
                  </a:lnTo>
                  <a:cubicBezTo>
                    <a:pt x="60579" y="19036"/>
                    <a:pt x="12700" y="89851"/>
                    <a:pt x="12700" y="177037"/>
                  </a:cubicBezTo>
                  <a:close/>
                </a:path>
              </a:pathLst>
            </a:custGeom>
            <a:solidFill>
              <a:srgbClr val="28385B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9999214" y="7509962"/>
            <a:ext cx="589803" cy="589803"/>
            <a:chOff x="0" y="0"/>
            <a:chExt cx="524256" cy="5242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24256" cy="524256"/>
            </a:xfrm>
            <a:custGeom>
              <a:avLst/>
              <a:gdLst/>
              <a:ahLst/>
              <a:cxnLst/>
              <a:rect r="r" b="b" t="t" l="l"/>
              <a:pathLst>
                <a:path h="524256" w="524256">
                  <a:moveTo>
                    <a:pt x="0" y="262128"/>
                  </a:moveTo>
                  <a:cubicBezTo>
                    <a:pt x="0" y="117348"/>
                    <a:pt x="117348" y="0"/>
                    <a:pt x="262128" y="0"/>
                  </a:cubicBezTo>
                  <a:cubicBezTo>
                    <a:pt x="406908" y="0"/>
                    <a:pt x="524256" y="117348"/>
                    <a:pt x="524256" y="262128"/>
                  </a:cubicBezTo>
                  <a:cubicBezTo>
                    <a:pt x="524256" y="406908"/>
                    <a:pt x="406908" y="524256"/>
                    <a:pt x="262128" y="524256"/>
                  </a:cubicBezTo>
                  <a:cubicBezTo>
                    <a:pt x="117348" y="524256"/>
                    <a:pt x="0" y="406908"/>
                    <a:pt x="0" y="262128"/>
                  </a:cubicBezTo>
                  <a:close/>
                </a:path>
              </a:pathLst>
            </a:custGeom>
            <a:solidFill>
              <a:srgbClr val="4BBE8A"/>
            </a:solid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9525"/>
              <a:ext cx="524256" cy="533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08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0794762" y="7578544"/>
            <a:ext cx="31548" cy="260611"/>
            <a:chOff x="0" y="0"/>
            <a:chExt cx="28042" cy="23164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8067" cy="231648"/>
            </a:xfrm>
            <a:custGeom>
              <a:avLst/>
              <a:gdLst/>
              <a:ahLst/>
              <a:cxnLst/>
              <a:rect r="r" b="b" t="t" l="l"/>
              <a:pathLst>
                <a:path h="231648" w="28067">
                  <a:moveTo>
                    <a:pt x="0" y="0"/>
                  </a:moveTo>
                  <a:lnTo>
                    <a:pt x="28067" y="0"/>
                  </a:lnTo>
                  <a:lnTo>
                    <a:pt x="28067" y="231648"/>
                  </a:lnTo>
                  <a:lnTo>
                    <a:pt x="0" y="231648"/>
                  </a:lnTo>
                  <a:close/>
                </a:path>
              </a:pathLst>
            </a:custGeom>
            <a:solidFill>
              <a:srgbClr val="4BBE8A"/>
            </a:solidFill>
          </p:spPr>
        </p:sp>
      </p:grpSp>
      <p:sp>
        <p:nvSpPr>
          <p:cNvPr name="TextBox 172" id="172"/>
          <p:cNvSpPr txBox="true"/>
          <p:nvPr/>
        </p:nvSpPr>
        <p:spPr>
          <a:xfrm rot="0">
            <a:off x="11041656" y="7518345"/>
            <a:ext cx="541795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BBE8A"/>
                </a:solidFill>
                <a:latin typeface="Arial Bold"/>
                <a:ea typeface="Arial Bold"/>
                <a:cs typeface="Arial Bold"/>
                <a:sym typeface="Arial Bold"/>
              </a:rPr>
              <a:t>Q &amp; A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11041656" y="7814771"/>
            <a:ext cx="541795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8FA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질의응답</a:t>
            </a:r>
          </a:p>
        </p:txBody>
      </p:sp>
      <p:grpSp>
        <p:nvGrpSpPr>
          <p:cNvPr name="Group 174" id="174"/>
          <p:cNvGrpSpPr/>
          <p:nvPr/>
        </p:nvGrpSpPr>
        <p:grpSpPr>
          <a:xfrm rot="0">
            <a:off x="905279" y="8949892"/>
            <a:ext cx="16459611" cy="13716"/>
            <a:chOff x="0" y="0"/>
            <a:chExt cx="14630400" cy="12192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4630400" cy="12192"/>
            </a:xfrm>
            <a:custGeom>
              <a:avLst/>
              <a:gdLst/>
              <a:ahLst/>
              <a:cxnLst/>
              <a:rect r="r" b="b" t="t" l="l"/>
              <a:pathLst>
                <a:path h="1219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192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28385B"/>
            </a:solidFill>
          </p:spPr>
        </p:sp>
      </p:grpSp>
      <p:sp>
        <p:nvSpPr>
          <p:cNvPr name="TextBox 176" id="176"/>
          <p:cNvSpPr txBox="true"/>
          <p:nvPr/>
        </p:nvSpPr>
        <p:spPr>
          <a:xfrm rot="0">
            <a:off x="1143000" y="9671447"/>
            <a:ext cx="822979" cy="32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2286000"/>
            <a:chOff x="0" y="0"/>
            <a:chExt cx="24384000" cy="304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571500"/>
            <a:ext cx="171450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i="true">
                <a:solidFill>
                  <a:srgbClr val="F8FAFC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01. 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3067050"/>
            <a:ext cx="7572375" cy="44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400" b="true">
                <a:solidFill>
                  <a:srgbClr val="10B981"/>
                </a:solidFill>
                <a:latin typeface="Inter Bold"/>
                <a:ea typeface="Inter Bold"/>
                <a:cs typeface="Inter Bold"/>
                <a:sym typeface="Inter Bold"/>
              </a:rPr>
              <a:t>프로젝트 주제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3920471"/>
            <a:ext cx="7572375" cy="42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2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원격 품질 검사기 (</a:t>
            </a:r>
            <a:r>
              <a:rPr lang="en-US" sz="22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Remote Product Checker</a:t>
            </a:r>
            <a:r>
              <a:rPr lang="en-US" sz="22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5087455"/>
            <a:ext cx="7572375" cy="85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400" b="true">
                <a:solidFill>
                  <a:srgbClr val="10B981"/>
                </a:solidFill>
                <a:latin typeface="Inter Bold"/>
                <a:ea typeface="Inter Bold"/>
                <a:cs typeface="Inter Bold"/>
                <a:sym typeface="Inter Bold"/>
              </a:rPr>
              <a:t>요약 소개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6162618"/>
            <a:ext cx="8001000" cy="89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23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모바일로 촬영한 이미지를 기반으로 정상/비정상을 자동으로 판별하고, 의심 결함 영역을 시각적으로 표시하는 AI 품질검사 시스템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2625" y="3067050"/>
            <a:ext cx="7572375" cy="62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400" b="true">
                <a:solidFill>
                  <a:srgbClr val="10B981"/>
                </a:solidFill>
                <a:latin typeface="Inter Bold"/>
                <a:ea typeface="Inter Bold"/>
                <a:cs typeface="Inter Bold"/>
                <a:sym typeface="Inter Bold"/>
              </a:rPr>
              <a:t>핵심 가치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72625" y="3910946"/>
            <a:ext cx="7917469" cy="44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23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r>
              <a:rPr lang="en-US" sz="2300" b="true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 신속성 : </a:t>
            </a:r>
            <a:r>
              <a:rPr lang="en-US" sz="23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촬영 후 즉시 업로드, 판정으로 빠른 1차 품질검사 가능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72625" y="5048250"/>
            <a:ext cx="7572375" cy="89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23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r>
              <a:rPr lang="en-US" sz="2300" b="true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 직관성 : </a:t>
            </a:r>
            <a:r>
              <a:rPr lang="en-US" sz="23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정상/비정상 결과뿐 아니라 결함 의심 위치를 시각화해 이해도 향상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2625" y="6658851"/>
            <a:ext cx="7572375" cy="89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23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23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확장성</a:t>
            </a:r>
            <a:r>
              <a:rPr lang="en-US" sz="23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300" b="true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: </a:t>
            </a:r>
            <a:r>
              <a:rPr lang="en-US" sz="23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파일 기반 구조와 모듈형 추론 파이프라인으로 타품목/ 모델 확장이 용이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" y="9671447"/>
            <a:ext cx="82297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PAGE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72625" y="8246631"/>
            <a:ext cx="7572375" cy="89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23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r>
              <a:rPr lang="en-US" sz="2300" b="true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 실용성 : </a:t>
            </a:r>
            <a:r>
              <a:rPr lang="en-US" sz="23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모바일 중심 사용 흐름(HEIC 포함 업로드, 간단한 UI)으로 현장 적용성 확보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2286000"/>
            <a:chOff x="0" y="0"/>
            <a:chExt cx="24384000" cy="304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571500"/>
            <a:ext cx="1646465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80"/>
              </a:lnSpc>
            </a:pPr>
            <a:r>
              <a:rPr lang="en-US" b="true" sz="4900" i="true">
                <a:solidFill>
                  <a:srgbClr val="F8FAFC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02. KEY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2968228"/>
            <a:ext cx="571500" cy="571500"/>
            <a:chOff x="0" y="0"/>
            <a:chExt cx="762000" cy="7620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50" r="0" b="-125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286000" y="3171825"/>
            <a:ext cx="65722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핵심 기능 1 : 다품목 확장성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6000" y="3796903"/>
            <a:ext cx="6572250" cy="68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제품별 데이터, 모델 추가만으로 신규 품목 검사 기능을 빠르게 확장 가능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29750" y="2968228"/>
            <a:ext cx="571500" cy="571500"/>
            <a:chOff x="0" y="0"/>
            <a:chExt cx="762000" cy="7620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50" r="0" b="-125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572750" y="3171825"/>
            <a:ext cx="65722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핵심 기능 2 : AI 정상 비정상 판별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72750" y="3796903"/>
            <a:ext cx="6572250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분류 모델 기반 확률 점수와 임계값을 이용한 자동 품질 판정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3000" y="5564981"/>
            <a:ext cx="571500" cy="571500"/>
            <a:chOff x="0" y="0"/>
            <a:chExt cx="762000" cy="7620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50" r="0" b="-125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286000" y="5768578"/>
            <a:ext cx="65722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핵심 기능 3 : 비정상 영역 시각화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86000" y="6393656"/>
            <a:ext cx="6572250" cy="68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색 기반 + 모델 기반 2가지 방식으로 결함 의심 위치를 직관적으로 표시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29750" y="5564981"/>
            <a:ext cx="571500" cy="571500"/>
            <a:chOff x="0" y="0"/>
            <a:chExt cx="762000" cy="7620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250" r="0" b="-125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572750" y="5768578"/>
            <a:ext cx="65722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핵심 기능 4 : ROI 선택 기반 검사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72750" y="6393656"/>
            <a:ext cx="6572250" cy="68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검수 정확도를 향상시키기 위해, 사용자가 지정한 관심 영역만 분석하는 기능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3000" y="8402841"/>
            <a:ext cx="1764506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0B981"/>
                </a:solidFill>
                <a:latin typeface="Inter Bold"/>
                <a:ea typeface="Inter Bold"/>
                <a:cs typeface="Inter Bold"/>
                <a:sym typeface="Inter Bold"/>
              </a:rPr>
              <a:t>TECH STACK: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193256" y="8351044"/>
            <a:ext cx="1028700" cy="414338"/>
            <a:chOff x="0" y="0"/>
            <a:chExt cx="1371600" cy="5524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1600" cy="552450"/>
            </a:xfrm>
            <a:custGeom>
              <a:avLst/>
              <a:gdLst/>
              <a:ahLst/>
              <a:cxnLst/>
              <a:rect r="r" b="b" t="t" l="l"/>
              <a:pathLst>
                <a:path h="55245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3320767" y="8374542"/>
            <a:ext cx="773687" cy="34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React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364831" y="8351044"/>
            <a:ext cx="1268740" cy="414338"/>
            <a:chOff x="0" y="0"/>
            <a:chExt cx="1691653" cy="5524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91640" cy="552450"/>
            </a:xfrm>
            <a:custGeom>
              <a:avLst/>
              <a:gdLst/>
              <a:ahLst/>
              <a:cxnLst/>
              <a:rect r="r" b="b" t="t" l="l"/>
              <a:pathLst>
                <a:path h="552450" w="1691640">
                  <a:moveTo>
                    <a:pt x="0" y="0"/>
                  </a:moveTo>
                  <a:lnTo>
                    <a:pt x="1691640" y="0"/>
                  </a:lnTo>
                  <a:lnTo>
                    <a:pt x="1691640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492342" y="8374542"/>
            <a:ext cx="1013727" cy="34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Node.js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776446" y="8351044"/>
            <a:ext cx="1148744" cy="414338"/>
            <a:chOff x="0" y="0"/>
            <a:chExt cx="1531658" cy="5524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31620" cy="552450"/>
            </a:xfrm>
            <a:custGeom>
              <a:avLst/>
              <a:gdLst/>
              <a:ahLst/>
              <a:cxnLst/>
              <a:rect r="r" b="b" t="t" l="l"/>
              <a:pathLst>
                <a:path h="552450" w="1531620">
                  <a:moveTo>
                    <a:pt x="0" y="0"/>
                  </a:moveTo>
                  <a:lnTo>
                    <a:pt x="1531620" y="0"/>
                  </a:lnTo>
                  <a:lnTo>
                    <a:pt x="1531620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5903957" y="8374542"/>
            <a:ext cx="893731" cy="34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Python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068074" y="8351044"/>
            <a:ext cx="1628775" cy="414338"/>
            <a:chOff x="0" y="0"/>
            <a:chExt cx="2171700" cy="5524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71700" cy="552450"/>
            </a:xfrm>
            <a:custGeom>
              <a:avLst/>
              <a:gdLst/>
              <a:ahLst/>
              <a:cxnLst/>
              <a:rect r="r" b="b" t="t" l="l"/>
              <a:pathLst>
                <a:path h="552450" w="2171700">
                  <a:moveTo>
                    <a:pt x="0" y="0"/>
                  </a:moveTo>
                  <a:lnTo>
                    <a:pt x="2171700" y="0"/>
                  </a:lnTo>
                  <a:lnTo>
                    <a:pt x="2171700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195576" y="8374542"/>
            <a:ext cx="1373762" cy="34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PostgreSQL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839724" y="8351044"/>
            <a:ext cx="1148744" cy="414338"/>
            <a:chOff x="0" y="0"/>
            <a:chExt cx="1531658" cy="5524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31620" cy="552450"/>
            </a:xfrm>
            <a:custGeom>
              <a:avLst/>
              <a:gdLst/>
              <a:ahLst/>
              <a:cxnLst/>
              <a:rect r="r" b="b" t="t" l="l"/>
              <a:pathLst>
                <a:path h="552450" w="1531620">
                  <a:moveTo>
                    <a:pt x="0" y="0"/>
                  </a:moveTo>
                  <a:lnTo>
                    <a:pt x="1531620" y="0"/>
                  </a:lnTo>
                  <a:lnTo>
                    <a:pt x="1531620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967226" y="8374542"/>
            <a:ext cx="893731" cy="34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Docker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3000" y="9671447"/>
            <a:ext cx="82297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PAGE 4</a:t>
            </a:r>
          </a:p>
          <a:p>
            <a:pPr algn="l">
              <a:lnSpc>
                <a:spcPts val="203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2286000"/>
            <a:chOff x="0" y="0"/>
            <a:chExt cx="24384000" cy="304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571500"/>
            <a:ext cx="17145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i="true">
                <a:solidFill>
                  <a:srgbClr val="F8FAFC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03. EVALUATION PLAN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3476625"/>
            <a:ext cx="4952962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0B981"/>
                </a:solidFill>
                <a:latin typeface="Inter Bold"/>
                <a:ea typeface="Inter Bold"/>
                <a:cs typeface="Inter Bold"/>
                <a:sym typeface="Inter Bold"/>
              </a:rPr>
              <a:t>평가 방법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4081462"/>
            <a:ext cx="4952962" cy="34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정량적 지표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3050" y="4703845"/>
            <a:ext cx="4782912" cy="35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시스템 응답 속도 (ms)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3050" y="5229577"/>
            <a:ext cx="4782912" cy="35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데이터 처리 정확도 (%)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3050" y="5755319"/>
            <a:ext cx="4782912" cy="35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동시 접속자 수용량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6470152"/>
            <a:ext cx="4952962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정성적 지표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4750070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5275812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" y="5801544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3050" y="7092534"/>
            <a:ext cx="4782912" cy="53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사용자 UI/UX 만족도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3050" y="7618276"/>
            <a:ext cx="4782912" cy="53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기능 구현의 완성도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7138768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7664501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67462" y="3476625"/>
            <a:ext cx="4953019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0B981"/>
                </a:solidFill>
                <a:latin typeface="Inter Bold"/>
                <a:ea typeface="Inter Bold"/>
                <a:cs typeface="Inter Bold"/>
                <a:sym typeface="Inter Bold"/>
              </a:rPr>
              <a:t>테스트 환경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67462" y="4081462"/>
            <a:ext cx="4953019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인프라 구성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37512" y="4703845"/>
            <a:ext cx="4782969" cy="35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OS: Windows 11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37512" y="5229577"/>
            <a:ext cx="4782969" cy="53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DB: PostgreSQL 14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37512" y="5755319"/>
            <a:ext cx="4782969" cy="35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Server: AWS EC2 t3.medium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67462" y="6470152"/>
            <a:ext cx="4953019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클라이언트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67462" y="4750070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7462" y="5275812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67462" y="5801544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37512" y="7092534"/>
            <a:ext cx="4782969" cy="53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Web: Chrome / Safari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37512" y="7618276"/>
            <a:ext cx="4782969" cy="53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Mobile: iOS / Android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67462" y="7138768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667462" y="7664501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91981" y="3476625"/>
            <a:ext cx="4952962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0B981"/>
                </a:solidFill>
                <a:latin typeface="Inter Bold"/>
                <a:ea typeface="Inter Bold"/>
                <a:cs typeface="Inter Bold"/>
                <a:sym typeface="Inter Bold"/>
              </a:rPr>
              <a:t>최종 목표 수준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91981" y="4081462"/>
            <a:ext cx="4952962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캡스톤디자인 2 완료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62031" y="4703845"/>
            <a:ext cx="4782912" cy="53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핵심 기능 100% 구현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91981" y="5944419"/>
            <a:ext cx="4952962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기대 결과물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91981" y="4750070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62031" y="6566802"/>
            <a:ext cx="4782912" cy="53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안정적인 서비스 배포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62031" y="7092534"/>
            <a:ext cx="4782912" cy="53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상세 기술 문서화 완료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62031" y="7618276"/>
            <a:ext cx="4782912" cy="53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9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사용자 가이드 제작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3000" y="9671447"/>
            <a:ext cx="82297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PAGE 5</a:t>
            </a:r>
          </a:p>
          <a:p>
            <a:pPr algn="l">
              <a:lnSpc>
                <a:spcPts val="2039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2191981" y="6613027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191981" y="7138768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191981" y="7664501"/>
            <a:ext cx="154315" cy="48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&gt;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2187883"/>
            <a:chOff x="0" y="0"/>
            <a:chExt cx="24427878" cy="29171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402414" cy="2891790"/>
            </a:xfrm>
            <a:custGeom>
              <a:avLst/>
              <a:gdLst/>
              <a:ahLst/>
              <a:cxnLst/>
              <a:rect r="r" b="b" t="t" l="l"/>
              <a:pathLst>
                <a:path h="28917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891790"/>
                  </a:lnTo>
                  <a:lnTo>
                    <a:pt x="0" y="2891790"/>
                  </a:lnTo>
                  <a:close/>
                </a:path>
              </a:pathLst>
            </a:custGeom>
            <a:solidFill>
              <a:srgbClr val="4F82E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2917190"/>
            </a:xfrm>
            <a:custGeom>
              <a:avLst/>
              <a:gdLst/>
              <a:ahLst/>
              <a:cxnLst/>
              <a:rect r="r" b="b" t="t" l="l"/>
              <a:pathLst>
                <a:path h="2917190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904490"/>
                  </a:lnTo>
                  <a:cubicBezTo>
                    <a:pt x="24427814" y="2911475"/>
                    <a:pt x="24422100" y="2917190"/>
                    <a:pt x="24415114" y="2917190"/>
                  </a:cubicBezTo>
                  <a:lnTo>
                    <a:pt x="12700" y="2917190"/>
                  </a:lnTo>
                  <a:cubicBezTo>
                    <a:pt x="5715" y="2917190"/>
                    <a:pt x="0" y="2911475"/>
                    <a:pt x="0" y="290449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04490"/>
                  </a:lnTo>
                  <a:lnTo>
                    <a:pt x="12700" y="2904490"/>
                  </a:lnTo>
                  <a:lnTo>
                    <a:pt x="12700" y="2891790"/>
                  </a:lnTo>
                  <a:lnTo>
                    <a:pt x="24415114" y="2891790"/>
                  </a:lnTo>
                  <a:lnTo>
                    <a:pt x="24415114" y="2904490"/>
                  </a:lnTo>
                  <a:lnTo>
                    <a:pt x="24402414" y="2904490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F82E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9500" y="658882"/>
            <a:ext cx="11530451" cy="754971"/>
            <a:chOff x="0" y="0"/>
            <a:chExt cx="15373934" cy="1006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373931" cy="1006626"/>
            </a:xfrm>
            <a:custGeom>
              <a:avLst/>
              <a:gdLst/>
              <a:ahLst/>
              <a:cxnLst/>
              <a:rect r="r" b="b" t="t" l="l"/>
              <a:pathLst>
                <a:path h="1006626" w="15373931">
                  <a:moveTo>
                    <a:pt x="0" y="0"/>
                  </a:moveTo>
                  <a:lnTo>
                    <a:pt x="15373931" y="0"/>
                  </a:lnTo>
                  <a:lnTo>
                    <a:pt x="15373931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589" r="0" b="-24758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5373934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b="true" sz="4203" i="true">
                  <a:solidFill>
                    <a:srgbClr val="F7F8FC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04. PROGRESS STATUS (1/2)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21230" y="2159289"/>
            <a:ext cx="3038942" cy="8145285"/>
            <a:chOff x="0" y="0"/>
            <a:chExt cx="4051922" cy="108603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4026535" cy="10835005"/>
            </a:xfrm>
            <a:custGeom>
              <a:avLst/>
              <a:gdLst/>
              <a:ahLst/>
              <a:cxnLst/>
              <a:rect r="r" b="b" t="t" l="l"/>
              <a:pathLst>
                <a:path h="10835005" w="4026535">
                  <a:moveTo>
                    <a:pt x="0" y="10835005"/>
                  </a:moveTo>
                  <a:lnTo>
                    <a:pt x="1006602" y="0"/>
                  </a:lnTo>
                  <a:lnTo>
                    <a:pt x="4026535" y="0"/>
                  </a:lnTo>
                  <a:lnTo>
                    <a:pt x="3019933" y="10835005"/>
                  </a:lnTo>
                  <a:close/>
                </a:path>
              </a:pathLst>
            </a:custGeom>
            <a:solidFill>
              <a:srgbClr val="172440">
                <a:alpha val="8431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038570" y="8801119"/>
            <a:ext cx="2630957" cy="22879"/>
            <a:chOff x="0" y="0"/>
            <a:chExt cx="3507943" cy="305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240" y="0"/>
              <a:ext cx="3477387" cy="30480"/>
            </a:xfrm>
            <a:custGeom>
              <a:avLst/>
              <a:gdLst/>
              <a:ahLst/>
              <a:cxnLst/>
              <a:rect r="r" b="b" t="t" l="l"/>
              <a:pathLst>
                <a:path h="30480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30480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253752">
                <a:alpha val="41961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9569" y="2717892"/>
            <a:ext cx="452980" cy="452980"/>
            <a:chOff x="0" y="0"/>
            <a:chExt cx="603974" cy="6039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3976" cy="603976"/>
            </a:xfrm>
            <a:custGeom>
              <a:avLst/>
              <a:gdLst/>
              <a:ahLst/>
              <a:cxnLst/>
              <a:rect r="r" b="b" t="t" l="l"/>
              <a:pathLst>
                <a:path h="603976" w="603976">
                  <a:moveTo>
                    <a:pt x="0" y="0"/>
                  </a:moveTo>
                  <a:lnTo>
                    <a:pt x="603976" y="0"/>
                  </a:lnTo>
                  <a:lnTo>
                    <a:pt x="603976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603974" cy="613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58C58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06088" y="2759069"/>
            <a:ext cx="3431677" cy="452980"/>
            <a:chOff x="0" y="0"/>
            <a:chExt cx="4575569" cy="6039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5575" cy="603976"/>
            </a:xfrm>
            <a:custGeom>
              <a:avLst/>
              <a:gdLst/>
              <a:ahLst/>
              <a:cxnLst/>
              <a:rect r="r" b="b" t="t" l="l"/>
              <a:pathLst>
                <a:path h="603976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13" r="0" b="-976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4575569" cy="594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spc="9">
                  <a:solidFill>
                    <a:srgbClr val="58C58A"/>
                  </a:solidFill>
                  <a:latin typeface="Mandali"/>
                  <a:ea typeface="Mandali"/>
                  <a:cs typeface="Mandali"/>
                  <a:sym typeface="Mandali"/>
                </a:rPr>
                <a:t>구현 완료 항목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57020" y="3788578"/>
            <a:ext cx="6039755" cy="315716"/>
            <a:chOff x="0" y="0"/>
            <a:chExt cx="8053006" cy="4209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53012" cy="420953"/>
            </a:xfrm>
            <a:custGeom>
              <a:avLst/>
              <a:gdLst/>
              <a:ahLst/>
              <a:cxnLst/>
              <a:rect r="r" b="b" t="t" l="l"/>
              <a:pathLst>
                <a:path h="420953" w="8053012">
                  <a:moveTo>
                    <a:pt x="0" y="0"/>
                  </a:moveTo>
                  <a:lnTo>
                    <a:pt x="8053012" y="0"/>
                  </a:lnTo>
                  <a:lnTo>
                    <a:pt x="8053012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756" r="0" b="-32275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053006" cy="420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5"/>
                </a:lnSpc>
              </a:pPr>
              <a:r>
                <a:rPr lang="en-US" sz="1771" spc="6">
                  <a:solidFill>
                    <a:srgbClr val="F7F8FC"/>
                  </a:solidFill>
                  <a:latin typeface="Mandali"/>
                  <a:ea typeface="Mandali"/>
                  <a:cs typeface="Mandali"/>
                  <a:sym typeface="Mandali"/>
                </a:rPr>
                <a:t>기능 A: 정상/비정상 자동 판별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77215" y="3788578"/>
            <a:ext cx="892235" cy="301990"/>
            <a:chOff x="0" y="0"/>
            <a:chExt cx="1189647" cy="4026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9649" cy="402651"/>
            </a:xfrm>
            <a:custGeom>
              <a:avLst/>
              <a:gdLst/>
              <a:ahLst/>
              <a:cxnLst/>
              <a:rect r="r" b="b" t="t" l="l"/>
              <a:pathLst>
                <a:path h="402651" w="1189649">
                  <a:moveTo>
                    <a:pt x="0" y="0"/>
                  </a:moveTo>
                  <a:lnTo>
                    <a:pt x="1189649" y="0"/>
                  </a:lnTo>
                  <a:lnTo>
                    <a:pt x="118964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8" r="0" b="-756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89647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1"/>
                </a:lnSpc>
              </a:pPr>
              <a:r>
                <a:rPr lang="en-US" sz="1651">
                  <a:solidFill>
                    <a:srgbClr val="F7F8FC"/>
                  </a:solidFill>
                  <a:latin typeface="Arial"/>
                  <a:ea typeface="Arial"/>
                  <a:cs typeface="Arial"/>
                  <a:sym typeface="Arial"/>
                </a:rPr>
                <a:t>100%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47485" y="4232024"/>
            <a:ext cx="7362863" cy="128883"/>
            <a:chOff x="0" y="0"/>
            <a:chExt cx="9817151" cy="1718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9791700" cy="146431"/>
            </a:xfrm>
            <a:custGeom>
              <a:avLst/>
              <a:gdLst/>
              <a:ahLst/>
              <a:cxnLst/>
              <a:rect r="r" b="b" t="t" l="l"/>
              <a:pathLst>
                <a:path h="146431" w="9791700">
                  <a:moveTo>
                    <a:pt x="0" y="0"/>
                  </a:moveTo>
                  <a:lnTo>
                    <a:pt x="9791700" y="0"/>
                  </a:lnTo>
                  <a:lnTo>
                    <a:pt x="979170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02B4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47485" y="4232024"/>
            <a:ext cx="7362863" cy="128883"/>
            <a:chOff x="0" y="0"/>
            <a:chExt cx="9817151" cy="1718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9791700" cy="146431"/>
            </a:xfrm>
            <a:custGeom>
              <a:avLst/>
              <a:gdLst/>
              <a:ahLst/>
              <a:cxnLst/>
              <a:rect r="r" b="b" t="t" l="l"/>
              <a:pathLst>
                <a:path h="146431" w="9791700">
                  <a:moveTo>
                    <a:pt x="0" y="0"/>
                  </a:moveTo>
                  <a:lnTo>
                    <a:pt x="9791700" y="0"/>
                  </a:lnTo>
                  <a:lnTo>
                    <a:pt x="979170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B8D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57020" y="4667088"/>
            <a:ext cx="7412431" cy="384353"/>
            <a:chOff x="0" y="0"/>
            <a:chExt cx="9883242" cy="5124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83241" cy="512464"/>
            </a:xfrm>
            <a:custGeom>
              <a:avLst/>
              <a:gdLst/>
              <a:ahLst/>
              <a:cxnLst/>
              <a:rect r="r" b="b" t="t" l="l"/>
              <a:pathLst>
                <a:path h="512464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9883242" cy="502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5"/>
                </a:lnSpc>
              </a:pPr>
              <a:r>
                <a:rPr lang="en-US" sz="1546" spc="6">
                  <a:solidFill>
                    <a:srgbClr val="C7CFDA"/>
                  </a:solidFill>
                  <a:latin typeface="Mandali"/>
                  <a:ea typeface="Mandali"/>
                  <a:cs typeface="Mandali"/>
                  <a:sym typeface="Mandali"/>
                </a:rPr>
                <a:t>학습 기준값과 입력 이미지의 비정상 확률을 비교하여 결과를 판정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57020" y="5655412"/>
            <a:ext cx="6039755" cy="315716"/>
            <a:chOff x="0" y="0"/>
            <a:chExt cx="8053006" cy="4209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53012" cy="420953"/>
            </a:xfrm>
            <a:custGeom>
              <a:avLst/>
              <a:gdLst/>
              <a:ahLst/>
              <a:cxnLst/>
              <a:rect r="r" b="b" t="t" l="l"/>
              <a:pathLst>
                <a:path h="420953" w="8053012">
                  <a:moveTo>
                    <a:pt x="0" y="0"/>
                  </a:moveTo>
                  <a:lnTo>
                    <a:pt x="8053012" y="0"/>
                  </a:lnTo>
                  <a:lnTo>
                    <a:pt x="8053012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756" r="0" b="-32275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8053006" cy="420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5"/>
                </a:lnSpc>
              </a:pPr>
              <a:r>
                <a:rPr lang="en-US" sz="1771" spc="6">
                  <a:solidFill>
                    <a:srgbClr val="F7F8FC"/>
                  </a:solidFill>
                  <a:latin typeface="Mandali"/>
                  <a:ea typeface="Mandali"/>
                  <a:cs typeface="Mandali"/>
                  <a:sym typeface="Mandali"/>
                </a:rPr>
                <a:t>기능 B: 비정상 영역 시각화 2종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77215" y="5655412"/>
            <a:ext cx="892235" cy="301990"/>
            <a:chOff x="0" y="0"/>
            <a:chExt cx="1189647" cy="4026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89649" cy="402651"/>
            </a:xfrm>
            <a:custGeom>
              <a:avLst/>
              <a:gdLst/>
              <a:ahLst/>
              <a:cxnLst/>
              <a:rect r="r" b="b" t="t" l="l"/>
              <a:pathLst>
                <a:path h="402651" w="1189649">
                  <a:moveTo>
                    <a:pt x="0" y="0"/>
                  </a:moveTo>
                  <a:lnTo>
                    <a:pt x="1189649" y="0"/>
                  </a:lnTo>
                  <a:lnTo>
                    <a:pt x="118964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8" r="0" b="-756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189647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1"/>
                </a:lnSpc>
              </a:pPr>
              <a:r>
                <a:rPr lang="en-US" sz="1651">
                  <a:solidFill>
                    <a:srgbClr val="F7F8FC"/>
                  </a:solidFill>
                  <a:latin typeface="Arial"/>
                  <a:ea typeface="Arial"/>
                  <a:cs typeface="Arial"/>
                  <a:sym typeface="Arial"/>
                </a:rPr>
                <a:t>100%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47485" y="6098858"/>
            <a:ext cx="7362863" cy="128883"/>
            <a:chOff x="0" y="0"/>
            <a:chExt cx="9817151" cy="1718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2700" y="12700"/>
              <a:ext cx="9791700" cy="146431"/>
            </a:xfrm>
            <a:custGeom>
              <a:avLst/>
              <a:gdLst/>
              <a:ahLst/>
              <a:cxnLst/>
              <a:rect r="r" b="b" t="t" l="l"/>
              <a:pathLst>
                <a:path h="146431" w="9791700">
                  <a:moveTo>
                    <a:pt x="0" y="0"/>
                  </a:moveTo>
                  <a:lnTo>
                    <a:pt x="9791700" y="0"/>
                  </a:lnTo>
                  <a:lnTo>
                    <a:pt x="979170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02B4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747485" y="6098858"/>
            <a:ext cx="7362863" cy="128883"/>
            <a:chOff x="0" y="0"/>
            <a:chExt cx="9817151" cy="1718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2700" y="12700"/>
              <a:ext cx="9791700" cy="146431"/>
            </a:xfrm>
            <a:custGeom>
              <a:avLst/>
              <a:gdLst/>
              <a:ahLst/>
              <a:cxnLst/>
              <a:rect r="r" b="b" t="t" l="l"/>
              <a:pathLst>
                <a:path h="146431" w="9791700">
                  <a:moveTo>
                    <a:pt x="0" y="0"/>
                  </a:moveTo>
                  <a:lnTo>
                    <a:pt x="9791700" y="0"/>
                  </a:lnTo>
                  <a:lnTo>
                    <a:pt x="979170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58C58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757020" y="6533921"/>
            <a:ext cx="7412431" cy="384353"/>
            <a:chOff x="0" y="0"/>
            <a:chExt cx="9883242" cy="51247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883241" cy="512464"/>
            </a:xfrm>
            <a:custGeom>
              <a:avLst/>
              <a:gdLst/>
              <a:ahLst/>
              <a:cxnLst/>
              <a:rect r="r" b="b" t="t" l="l"/>
              <a:pathLst>
                <a:path h="512464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9883242" cy="502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5"/>
                </a:lnSpc>
              </a:pPr>
              <a:r>
                <a:rPr lang="en-US" sz="1546" spc="6">
                  <a:solidFill>
                    <a:srgbClr val="C7CFDA"/>
                  </a:solidFill>
                  <a:latin typeface="Mandali"/>
                  <a:ea typeface="Mandali"/>
                  <a:cs typeface="Mandali"/>
                  <a:sym typeface="Mandali"/>
                </a:rPr>
                <a:t>색 기반 마스킹과 모델 기반 히트맵으로 이상 위치를 표시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687054" y="2763269"/>
            <a:ext cx="595589" cy="595589"/>
            <a:chOff x="0" y="0"/>
            <a:chExt cx="794118" cy="79411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2700"/>
              <a:ext cx="768731" cy="768731"/>
            </a:xfrm>
            <a:custGeom>
              <a:avLst/>
              <a:gdLst/>
              <a:ahLst/>
              <a:cxnLst/>
              <a:rect r="r" b="b" t="t" l="l"/>
              <a:pathLst>
                <a:path h="768731" w="768731">
                  <a:moveTo>
                    <a:pt x="0" y="384302"/>
                  </a:moveTo>
                  <a:cubicBezTo>
                    <a:pt x="0" y="172085"/>
                    <a:pt x="172085" y="0"/>
                    <a:pt x="384302" y="0"/>
                  </a:cubicBezTo>
                  <a:cubicBezTo>
                    <a:pt x="596519" y="0"/>
                    <a:pt x="768731" y="172085"/>
                    <a:pt x="768731" y="384302"/>
                  </a:cubicBezTo>
                  <a:cubicBezTo>
                    <a:pt x="768731" y="596519"/>
                    <a:pt x="596646" y="768731"/>
                    <a:pt x="384302" y="768731"/>
                  </a:cubicBezTo>
                  <a:cubicBezTo>
                    <a:pt x="171958" y="768731"/>
                    <a:pt x="0" y="596646"/>
                    <a:pt x="0" y="384302"/>
                  </a:cubicBezTo>
                  <a:close/>
                </a:path>
              </a:pathLst>
            </a:custGeom>
            <a:solidFill>
              <a:srgbClr val="58C58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4131" cy="794004"/>
            </a:xfrm>
            <a:custGeom>
              <a:avLst/>
              <a:gdLst/>
              <a:ahLst/>
              <a:cxnLst/>
              <a:rect r="r" b="b" t="t" l="l"/>
              <a:pathLst>
                <a:path h="794004" w="794131">
                  <a:moveTo>
                    <a:pt x="0" y="397002"/>
                  </a:moveTo>
                  <a:cubicBezTo>
                    <a:pt x="0" y="177800"/>
                    <a:pt x="177800" y="0"/>
                    <a:pt x="397002" y="0"/>
                  </a:cubicBezTo>
                  <a:lnTo>
                    <a:pt x="397002" y="12700"/>
                  </a:lnTo>
                  <a:lnTo>
                    <a:pt x="397002" y="0"/>
                  </a:lnTo>
                  <a:cubicBezTo>
                    <a:pt x="616331" y="0"/>
                    <a:pt x="794131" y="177800"/>
                    <a:pt x="794131" y="397002"/>
                  </a:cubicBezTo>
                  <a:cubicBezTo>
                    <a:pt x="794131" y="616204"/>
                    <a:pt x="616331" y="794004"/>
                    <a:pt x="397129" y="794004"/>
                  </a:cubicBezTo>
                  <a:lnTo>
                    <a:pt x="397129" y="781304"/>
                  </a:lnTo>
                  <a:lnTo>
                    <a:pt x="397129" y="794004"/>
                  </a:lnTo>
                  <a:cubicBezTo>
                    <a:pt x="177800" y="794131"/>
                    <a:pt x="0" y="616331"/>
                    <a:pt x="0" y="397002"/>
                  </a:cubicBezTo>
                  <a:lnTo>
                    <a:pt x="12700" y="397002"/>
                  </a:lnTo>
                  <a:lnTo>
                    <a:pt x="23495" y="403733"/>
                  </a:lnTo>
                  <a:cubicBezTo>
                    <a:pt x="20447" y="408559"/>
                    <a:pt x="14605" y="410718"/>
                    <a:pt x="9271" y="409194"/>
                  </a:cubicBezTo>
                  <a:cubicBezTo>
                    <a:pt x="3937" y="407670"/>
                    <a:pt x="0" y="402717"/>
                    <a:pt x="0" y="397002"/>
                  </a:cubicBezTo>
                  <a:moveTo>
                    <a:pt x="25400" y="397002"/>
                  </a:moveTo>
                  <a:lnTo>
                    <a:pt x="12700" y="397002"/>
                  </a:lnTo>
                  <a:lnTo>
                    <a:pt x="1905" y="390271"/>
                  </a:lnTo>
                  <a:cubicBezTo>
                    <a:pt x="4953" y="385445"/>
                    <a:pt x="10795" y="383286"/>
                    <a:pt x="16129" y="384810"/>
                  </a:cubicBezTo>
                  <a:cubicBezTo>
                    <a:pt x="21463" y="386334"/>
                    <a:pt x="25273" y="391414"/>
                    <a:pt x="25273" y="397002"/>
                  </a:cubicBezTo>
                  <a:cubicBezTo>
                    <a:pt x="25400" y="602361"/>
                    <a:pt x="191770" y="768731"/>
                    <a:pt x="397002" y="768731"/>
                  </a:cubicBezTo>
                  <a:cubicBezTo>
                    <a:pt x="602234" y="768731"/>
                    <a:pt x="768604" y="602361"/>
                    <a:pt x="768604" y="397129"/>
                  </a:cubicBezTo>
                  <a:lnTo>
                    <a:pt x="781304" y="397129"/>
                  </a:lnTo>
                  <a:lnTo>
                    <a:pt x="768604" y="397129"/>
                  </a:lnTo>
                  <a:cubicBezTo>
                    <a:pt x="768731" y="191770"/>
                    <a:pt x="602361" y="25400"/>
                    <a:pt x="397002" y="25400"/>
                  </a:cubicBezTo>
                  <a:lnTo>
                    <a:pt x="397002" y="12700"/>
                  </a:lnTo>
                  <a:lnTo>
                    <a:pt x="397002" y="25400"/>
                  </a:lnTo>
                  <a:cubicBezTo>
                    <a:pt x="191770" y="25400"/>
                    <a:pt x="25400" y="191770"/>
                    <a:pt x="25400" y="397002"/>
                  </a:cubicBezTo>
                  <a:close/>
                </a:path>
              </a:pathLst>
            </a:custGeom>
            <a:solidFill>
              <a:srgbClr val="58C58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479010" y="2855157"/>
            <a:ext cx="988324" cy="247079"/>
            <a:chOff x="0" y="0"/>
            <a:chExt cx="1317765" cy="3294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17765" cy="329441"/>
            </a:xfrm>
            <a:custGeom>
              <a:avLst/>
              <a:gdLst/>
              <a:ahLst/>
              <a:cxnLst/>
              <a:rect r="r" b="b" t="t" l="l"/>
              <a:pathLst>
                <a:path h="329441" w="1317765">
                  <a:moveTo>
                    <a:pt x="0" y="0"/>
                  </a:moveTo>
                  <a:lnTo>
                    <a:pt x="1317765" y="0"/>
                  </a:lnTo>
                  <a:lnTo>
                    <a:pt x="131776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3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317765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 spc="5">
                  <a:solidFill>
                    <a:srgbClr val="58C58A"/>
                  </a:solidFill>
                  <a:latin typeface="Mandali"/>
                  <a:ea typeface="Mandali"/>
                  <a:cs typeface="Mandali"/>
                  <a:sym typeface="Mandali"/>
                </a:rPr>
                <a:t>완료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16529" y="2759069"/>
            <a:ext cx="3294412" cy="466706"/>
            <a:chOff x="0" y="0"/>
            <a:chExt cx="4392549" cy="62227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92552" cy="622278"/>
            </a:xfrm>
            <a:custGeom>
              <a:avLst/>
              <a:gdLst/>
              <a:ahLst/>
              <a:cxnLst/>
              <a:rect r="r" b="b" t="t" l="l"/>
              <a:pathLst>
                <a:path h="622278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4392549" cy="612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spc="9">
                  <a:solidFill>
                    <a:srgbClr val="58C58A"/>
                  </a:solidFill>
                  <a:latin typeface="Mandali"/>
                  <a:ea typeface="Mandali"/>
                  <a:cs typeface="Mandali"/>
                  <a:sym typeface="Mandali"/>
                </a:rPr>
                <a:t>기능 상세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16529" y="3335598"/>
            <a:ext cx="6314294" cy="329441"/>
            <a:chOff x="0" y="0"/>
            <a:chExt cx="8419059" cy="43925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419057" cy="439255"/>
            </a:xfrm>
            <a:custGeom>
              <a:avLst/>
              <a:gdLst/>
              <a:ahLst/>
              <a:cxnLst/>
              <a:rect r="r" b="b" t="t" l="l"/>
              <a:pathLst>
                <a:path h="439255" w="8419057">
                  <a:moveTo>
                    <a:pt x="0" y="0"/>
                  </a:moveTo>
                  <a:lnTo>
                    <a:pt x="8419057" y="0"/>
                  </a:lnTo>
                  <a:lnTo>
                    <a:pt x="8419057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9525"/>
              <a:ext cx="8419059" cy="42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7"/>
                </a:lnSpc>
              </a:pPr>
              <a:r>
                <a:rPr lang="en-US" sz="1531" spc="5">
                  <a:solidFill>
                    <a:srgbClr val="C7CFDA"/>
                  </a:solidFill>
                  <a:latin typeface="Mandali"/>
                  <a:ea typeface="Mandali"/>
                  <a:cs typeface="Mandali"/>
                  <a:sym typeface="Mandali"/>
                </a:rPr>
                <a:t>각 기능의 구현 범위와 발표 시 설명 포인트를 정리했습니다.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20730" y="4245750"/>
            <a:ext cx="321050" cy="321050"/>
            <a:chOff x="0" y="0"/>
            <a:chExt cx="428066" cy="42806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2700" y="12700"/>
              <a:ext cx="402717" cy="402590"/>
            </a:xfrm>
            <a:custGeom>
              <a:avLst/>
              <a:gdLst/>
              <a:ahLst/>
              <a:cxnLst/>
              <a:rect r="r" b="b" t="t" l="l"/>
              <a:pathLst>
                <a:path h="402590" w="402717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717" y="90170"/>
                    <a:pt x="402717" y="201295"/>
                  </a:cubicBezTo>
                  <a:cubicBezTo>
                    <a:pt x="402717" y="312420"/>
                    <a:pt x="312547" y="402590"/>
                    <a:pt x="201422" y="402590"/>
                  </a:cubicBezTo>
                  <a:cubicBezTo>
                    <a:pt x="90297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58C58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7990" cy="427990"/>
            </a:xfrm>
            <a:custGeom>
              <a:avLst/>
              <a:gdLst/>
              <a:ahLst/>
              <a:cxnLst/>
              <a:rect r="r" b="b" t="t" l="l"/>
              <a:pathLst>
                <a:path h="427990" w="427990">
                  <a:moveTo>
                    <a:pt x="0" y="213995"/>
                  </a:moveTo>
                  <a:cubicBezTo>
                    <a:pt x="0" y="95885"/>
                    <a:pt x="95885" y="0"/>
                    <a:pt x="213995" y="0"/>
                  </a:cubicBezTo>
                  <a:lnTo>
                    <a:pt x="213995" y="12700"/>
                  </a:lnTo>
                  <a:lnTo>
                    <a:pt x="213995" y="0"/>
                  </a:lnTo>
                  <a:cubicBezTo>
                    <a:pt x="332232" y="0"/>
                    <a:pt x="427990" y="95885"/>
                    <a:pt x="427990" y="213995"/>
                  </a:cubicBezTo>
                  <a:lnTo>
                    <a:pt x="415290" y="213995"/>
                  </a:lnTo>
                  <a:lnTo>
                    <a:pt x="427990" y="213995"/>
                  </a:lnTo>
                  <a:cubicBezTo>
                    <a:pt x="427990" y="332232"/>
                    <a:pt x="332105" y="427990"/>
                    <a:pt x="213995" y="427990"/>
                  </a:cubicBezTo>
                  <a:lnTo>
                    <a:pt x="213995" y="415290"/>
                  </a:lnTo>
                  <a:lnTo>
                    <a:pt x="213995" y="427990"/>
                  </a:lnTo>
                  <a:cubicBezTo>
                    <a:pt x="95885" y="428117"/>
                    <a:pt x="0" y="332232"/>
                    <a:pt x="0" y="213995"/>
                  </a:cubicBezTo>
                  <a:lnTo>
                    <a:pt x="12700" y="213995"/>
                  </a:lnTo>
                  <a:lnTo>
                    <a:pt x="23622" y="220472"/>
                  </a:lnTo>
                  <a:cubicBezTo>
                    <a:pt x="20701" y="225425"/>
                    <a:pt x="14859" y="227711"/>
                    <a:pt x="9271" y="226187"/>
                  </a:cubicBezTo>
                  <a:cubicBezTo>
                    <a:pt x="3683" y="224663"/>
                    <a:pt x="0" y="219710"/>
                    <a:pt x="0" y="213995"/>
                  </a:cubicBezTo>
                  <a:moveTo>
                    <a:pt x="25400" y="213995"/>
                  </a:moveTo>
                  <a:lnTo>
                    <a:pt x="12700" y="213995"/>
                  </a:lnTo>
                  <a:lnTo>
                    <a:pt x="1778" y="207518"/>
                  </a:lnTo>
                  <a:cubicBezTo>
                    <a:pt x="4699" y="202565"/>
                    <a:pt x="10541" y="200279"/>
                    <a:pt x="16129" y="201803"/>
                  </a:cubicBezTo>
                  <a:cubicBezTo>
                    <a:pt x="21717" y="203327"/>
                    <a:pt x="25527" y="208280"/>
                    <a:pt x="25527" y="214122"/>
                  </a:cubicBezTo>
                  <a:cubicBezTo>
                    <a:pt x="25400" y="318262"/>
                    <a:pt x="109855" y="402590"/>
                    <a:pt x="213995" y="402590"/>
                  </a:cubicBezTo>
                  <a:cubicBezTo>
                    <a:pt x="318135" y="402590"/>
                    <a:pt x="402590" y="318262"/>
                    <a:pt x="402590" y="213995"/>
                  </a:cubicBezTo>
                  <a:cubicBezTo>
                    <a:pt x="402590" y="109728"/>
                    <a:pt x="318262" y="25400"/>
                    <a:pt x="213995" y="25400"/>
                  </a:cubicBezTo>
                  <a:lnTo>
                    <a:pt x="213995" y="12700"/>
                  </a:lnTo>
                  <a:lnTo>
                    <a:pt x="213995" y="25400"/>
                  </a:lnTo>
                  <a:cubicBezTo>
                    <a:pt x="109855" y="25400"/>
                    <a:pt x="25400" y="109855"/>
                    <a:pt x="25400" y="213995"/>
                  </a:cubicBezTo>
                  <a:close/>
                </a:path>
              </a:pathLst>
            </a:custGeom>
            <a:solidFill>
              <a:srgbClr val="58C58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430255" y="4262152"/>
            <a:ext cx="301990" cy="192176"/>
            <a:chOff x="0" y="0"/>
            <a:chExt cx="402654" cy="25623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02651" cy="256232"/>
            </a:xfrm>
            <a:custGeom>
              <a:avLst/>
              <a:gdLst/>
              <a:ahLst/>
              <a:cxnLst/>
              <a:rect r="r" b="b" t="t" l="l"/>
              <a:pathLst>
                <a:path h="256232" w="402651">
                  <a:moveTo>
                    <a:pt x="0" y="0"/>
                  </a:moveTo>
                  <a:lnTo>
                    <a:pt x="402651" y="0"/>
                  </a:lnTo>
                  <a:lnTo>
                    <a:pt x="402651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8" t="0" r="-31649" b="-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402654" cy="2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sz="1200" b="true">
                  <a:solidFill>
                    <a:srgbClr val="0B13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910696" y="4227833"/>
            <a:ext cx="5627961" cy="343167"/>
            <a:chOff x="0" y="0"/>
            <a:chExt cx="7503947" cy="4575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503943" cy="457557"/>
            </a:xfrm>
            <a:custGeom>
              <a:avLst/>
              <a:gdLst/>
              <a:ahLst/>
              <a:cxnLst/>
              <a:rect r="r" b="b" t="t" l="l"/>
              <a:pathLst>
                <a:path h="457557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555" r="0" b="-26955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7503947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5"/>
                </a:lnSpc>
              </a:pPr>
              <a:r>
                <a:rPr lang="en-US" sz="1696" spc="6">
                  <a:solidFill>
                    <a:srgbClr val="F7F8FC"/>
                  </a:solidFill>
                  <a:latin typeface="Mandali"/>
                  <a:ea typeface="Mandali"/>
                  <a:cs typeface="Mandali"/>
                  <a:sym typeface="Mandali"/>
                </a:rPr>
                <a:t>정상/비정상 자동 판별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910696" y="4845529"/>
            <a:ext cx="5833853" cy="796147"/>
            <a:chOff x="0" y="0"/>
            <a:chExt cx="7778471" cy="106153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778477" cy="1061533"/>
            </a:xfrm>
            <a:custGeom>
              <a:avLst/>
              <a:gdLst/>
              <a:ahLst/>
              <a:cxnLst/>
              <a:rect r="r" b="b" t="t" l="l"/>
              <a:pathLst>
                <a:path h="1061533" w="7778477">
                  <a:moveTo>
                    <a:pt x="0" y="0"/>
                  </a:moveTo>
                  <a:lnTo>
                    <a:pt x="7778477" y="0"/>
                  </a:lnTo>
                  <a:lnTo>
                    <a:pt x="7778477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778" r="0" b="-9277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7778471" cy="105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3"/>
                </a:lnSpc>
              </a:pPr>
              <a:r>
                <a:rPr lang="en-US" sz="1411" spc="5">
                  <a:solidFill>
                    <a:srgbClr val="C7CFDA"/>
                  </a:solidFill>
                  <a:latin typeface="Mandali"/>
                  <a:ea typeface="Mandali"/>
                  <a:cs typeface="Mandali"/>
                  <a:sym typeface="Mandali"/>
                </a:rPr>
                <a:t>이미지 데이터셋을 학습한 뒤 계산된 기준값(Threshold)과 새로 입력된 사진의 비정상 확률을 비교합니다.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20730" y="6277308"/>
            <a:ext cx="321050" cy="321050"/>
            <a:chOff x="0" y="0"/>
            <a:chExt cx="428066" cy="42806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2700" y="12700"/>
              <a:ext cx="402717" cy="402590"/>
            </a:xfrm>
            <a:custGeom>
              <a:avLst/>
              <a:gdLst/>
              <a:ahLst/>
              <a:cxnLst/>
              <a:rect r="r" b="b" t="t" l="l"/>
              <a:pathLst>
                <a:path h="402590" w="402717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717" y="90170"/>
                    <a:pt x="402717" y="201295"/>
                  </a:cubicBezTo>
                  <a:cubicBezTo>
                    <a:pt x="402717" y="312420"/>
                    <a:pt x="312547" y="402590"/>
                    <a:pt x="201422" y="402590"/>
                  </a:cubicBezTo>
                  <a:cubicBezTo>
                    <a:pt x="90297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58C58A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27990" cy="427990"/>
            </a:xfrm>
            <a:custGeom>
              <a:avLst/>
              <a:gdLst/>
              <a:ahLst/>
              <a:cxnLst/>
              <a:rect r="r" b="b" t="t" l="l"/>
              <a:pathLst>
                <a:path h="427990" w="427990">
                  <a:moveTo>
                    <a:pt x="0" y="213995"/>
                  </a:moveTo>
                  <a:cubicBezTo>
                    <a:pt x="0" y="95885"/>
                    <a:pt x="95885" y="0"/>
                    <a:pt x="213995" y="0"/>
                  </a:cubicBezTo>
                  <a:lnTo>
                    <a:pt x="213995" y="12700"/>
                  </a:lnTo>
                  <a:lnTo>
                    <a:pt x="213995" y="0"/>
                  </a:lnTo>
                  <a:cubicBezTo>
                    <a:pt x="332232" y="0"/>
                    <a:pt x="427990" y="95885"/>
                    <a:pt x="427990" y="213995"/>
                  </a:cubicBezTo>
                  <a:lnTo>
                    <a:pt x="415290" y="213995"/>
                  </a:lnTo>
                  <a:lnTo>
                    <a:pt x="427990" y="213995"/>
                  </a:lnTo>
                  <a:cubicBezTo>
                    <a:pt x="427990" y="332232"/>
                    <a:pt x="332105" y="427990"/>
                    <a:pt x="213995" y="427990"/>
                  </a:cubicBezTo>
                  <a:lnTo>
                    <a:pt x="213995" y="415290"/>
                  </a:lnTo>
                  <a:lnTo>
                    <a:pt x="213995" y="427990"/>
                  </a:lnTo>
                  <a:cubicBezTo>
                    <a:pt x="95885" y="428117"/>
                    <a:pt x="0" y="332232"/>
                    <a:pt x="0" y="213995"/>
                  </a:cubicBezTo>
                  <a:lnTo>
                    <a:pt x="12700" y="213995"/>
                  </a:lnTo>
                  <a:lnTo>
                    <a:pt x="23622" y="220472"/>
                  </a:lnTo>
                  <a:cubicBezTo>
                    <a:pt x="20701" y="225425"/>
                    <a:pt x="14859" y="227711"/>
                    <a:pt x="9271" y="226187"/>
                  </a:cubicBezTo>
                  <a:cubicBezTo>
                    <a:pt x="3683" y="224663"/>
                    <a:pt x="0" y="219710"/>
                    <a:pt x="0" y="213995"/>
                  </a:cubicBezTo>
                  <a:moveTo>
                    <a:pt x="25400" y="213995"/>
                  </a:moveTo>
                  <a:lnTo>
                    <a:pt x="12700" y="213995"/>
                  </a:lnTo>
                  <a:lnTo>
                    <a:pt x="1778" y="207518"/>
                  </a:lnTo>
                  <a:cubicBezTo>
                    <a:pt x="4699" y="202565"/>
                    <a:pt x="10541" y="200279"/>
                    <a:pt x="16129" y="201803"/>
                  </a:cubicBezTo>
                  <a:cubicBezTo>
                    <a:pt x="21717" y="203327"/>
                    <a:pt x="25527" y="208280"/>
                    <a:pt x="25527" y="214122"/>
                  </a:cubicBezTo>
                  <a:cubicBezTo>
                    <a:pt x="25400" y="318262"/>
                    <a:pt x="109855" y="402590"/>
                    <a:pt x="213995" y="402590"/>
                  </a:cubicBezTo>
                  <a:cubicBezTo>
                    <a:pt x="318135" y="402590"/>
                    <a:pt x="402590" y="318262"/>
                    <a:pt x="402590" y="213995"/>
                  </a:cubicBezTo>
                  <a:cubicBezTo>
                    <a:pt x="402590" y="109728"/>
                    <a:pt x="318262" y="25400"/>
                    <a:pt x="213995" y="25400"/>
                  </a:cubicBezTo>
                  <a:lnTo>
                    <a:pt x="213995" y="12700"/>
                  </a:lnTo>
                  <a:lnTo>
                    <a:pt x="213995" y="25400"/>
                  </a:lnTo>
                  <a:cubicBezTo>
                    <a:pt x="109855" y="25400"/>
                    <a:pt x="25400" y="109855"/>
                    <a:pt x="25400" y="213995"/>
                  </a:cubicBezTo>
                  <a:close/>
                </a:path>
              </a:pathLst>
            </a:custGeom>
            <a:solidFill>
              <a:srgbClr val="58C58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430255" y="6293701"/>
            <a:ext cx="301990" cy="192176"/>
            <a:chOff x="0" y="0"/>
            <a:chExt cx="402654" cy="25623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02651" cy="256232"/>
            </a:xfrm>
            <a:custGeom>
              <a:avLst/>
              <a:gdLst/>
              <a:ahLst/>
              <a:cxnLst/>
              <a:rect r="r" b="b" t="t" l="l"/>
              <a:pathLst>
                <a:path h="256232" w="402651">
                  <a:moveTo>
                    <a:pt x="0" y="0"/>
                  </a:moveTo>
                  <a:lnTo>
                    <a:pt x="402651" y="0"/>
                  </a:lnTo>
                  <a:lnTo>
                    <a:pt x="402651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8" t="0" r="-31649" b="-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402654" cy="2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sz="1200" b="true">
                  <a:solidFill>
                    <a:srgbClr val="0B13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910696" y="6259382"/>
            <a:ext cx="5627961" cy="343167"/>
            <a:chOff x="0" y="0"/>
            <a:chExt cx="7503947" cy="4575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503943" cy="457557"/>
            </a:xfrm>
            <a:custGeom>
              <a:avLst/>
              <a:gdLst/>
              <a:ahLst/>
              <a:cxnLst/>
              <a:rect r="r" b="b" t="t" l="l"/>
              <a:pathLst>
                <a:path h="457557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555" r="0" b="-26955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7503947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5"/>
                </a:lnSpc>
              </a:pPr>
              <a:r>
                <a:rPr lang="en-US" sz="1696" spc="6">
                  <a:solidFill>
                    <a:srgbClr val="F7F8FC"/>
                  </a:solidFill>
                  <a:latin typeface="Mandali"/>
                  <a:ea typeface="Mandali"/>
                  <a:cs typeface="Mandali"/>
                  <a:sym typeface="Mandali"/>
                </a:rPr>
                <a:t>비정상 영역 시각화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910696" y="6877088"/>
            <a:ext cx="5833853" cy="796147"/>
            <a:chOff x="0" y="0"/>
            <a:chExt cx="7778471" cy="106153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778477" cy="1061533"/>
            </a:xfrm>
            <a:custGeom>
              <a:avLst/>
              <a:gdLst/>
              <a:ahLst/>
              <a:cxnLst/>
              <a:rect r="r" b="b" t="t" l="l"/>
              <a:pathLst>
                <a:path h="1061533" w="7778477">
                  <a:moveTo>
                    <a:pt x="0" y="0"/>
                  </a:moveTo>
                  <a:lnTo>
                    <a:pt x="7778477" y="0"/>
                  </a:lnTo>
                  <a:lnTo>
                    <a:pt x="7778477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778" r="0" b="-9277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9525"/>
              <a:ext cx="7778471" cy="1052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3"/>
                </a:lnSpc>
              </a:pPr>
              <a:r>
                <a:rPr lang="en-US" sz="1411" spc="5">
                  <a:solidFill>
                    <a:srgbClr val="C7CFDA"/>
                  </a:solidFill>
                  <a:latin typeface="Mandali"/>
                  <a:ea typeface="Mandali"/>
                  <a:cs typeface="Mandali"/>
                  <a:sym typeface="Mandali"/>
                </a:rPr>
                <a:t>갈변·어두운 영역 같은 특징을 색 기반으로 표시하고, 모델 기반 결과는 히트맵으로 함께 제공합니다.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27858" y="8034328"/>
            <a:ext cx="14500755" cy="1281922"/>
            <a:chOff x="0" y="0"/>
            <a:chExt cx="19334340" cy="170923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2700" y="12700"/>
              <a:ext cx="19308953" cy="1683766"/>
            </a:xfrm>
            <a:custGeom>
              <a:avLst/>
              <a:gdLst/>
              <a:ahLst/>
              <a:cxnLst/>
              <a:rect r="r" b="b" t="t" l="l"/>
              <a:pathLst>
                <a:path h="1683766" w="19308953">
                  <a:moveTo>
                    <a:pt x="0" y="146431"/>
                  </a:moveTo>
                  <a:cubicBezTo>
                    <a:pt x="0" y="65532"/>
                    <a:pt x="66421" y="0"/>
                    <a:pt x="148463" y="0"/>
                  </a:cubicBezTo>
                  <a:lnTo>
                    <a:pt x="19160489" y="0"/>
                  </a:lnTo>
                  <a:cubicBezTo>
                    <a:pt x="19242531" y="0"/>
                    <a:pt x="19308953" y="65532"/>
                    <a:pt x="19308953" y="146431"/>
                  </a:cubicBezTo>
                  <a:lnTo>
                    <a:pt x="19308953" y="1537335"/>
                  </a:lnTo>
                  <a:cubicBezTo>
                    <a:pt x="19308953" y="1618234"/>
                    <a:pt x="19242531" y="1683766"/>
                    <a:pt x="19160489" y="1683766"/>
                  </a:cubicBezTo>
                  <a:lnTo>
                    <a:pt x="148463" y="1683766"/>
                  </a:lnTo>
                  <a:cubicBezTo>
                    <a:pt x="66421" y="1683766"/>
                    <a:pt x="0" y="1618234"/>
                    <a:pt x="0" y="1537335"/>
                  </a:cubicBezTo>
                  <a:close/>
                </a:path>
              </a:pathLst>
            </a:custGeom>
            <a:solidFill>
              <a:srgbClr val="101C34">
                <a:alpha val="95686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9334353" cy="1709166"/>
            </a:xfrm>
            <a:custGeom>
              <a:avLst/>
              <a:gdLst/>
              <a:ahLst/>
              <a:cxnLst/>
              <a:rect r="r" b="b" t="t" l="l"/>
              <a:pathLst>
                <a:path h="1709166" w="19334353">
                  <a:moveTo>
                    <a:pt x="0" y="159131"/>
                  </a:moveTo>
                  <a:cubicBezTo>
                    <a:pt x="0" y="71120"/>
                    <a:pt x="72263" y="0"/>
                    <a:pt x="161163" y="0"/>
                  </a:cubicBezTo>
                  <a:lnTo>
                    <a:pt x="19173189" y="0"/>
                  </a:lnTo>
                  <a:lnTo>
                    <a:pt x="19173189" y="12700"/>
                  </a:lnTo>
                  <a:lnTo>
                    <a:pt x="19173189" y="0"/>
                  </a:lnTo>
                  <a:cubicBezTo>
                    <a:pt x="19261962" y="0"/>
                    <a:pt x="19334353" y="71120"/>
                    <a:pt x="19334353" y="159131"/>
                  </a:cubicBezTo>
                  <a:lnTo>
                    <a:pt x="19321653" y="159131"/>
                  </a:lnTo>
                  <a:lnTo>
                    <a:pt x="19334353" y="159131"/>
                  </a:lnTo>
                  <a:lnTo>
                    <a:pt x="19334353" y="1550035"/>
                  </a:lnTo>
                  <a:lnTo>
                    <a:pt x="19321653" y="1550035"/>
                  </a:lnTo>
                  <a:lnTo>
                    <a:pt x="19334353" y="1550035"/>
                  </a:lnTo>
                  <a:cubicBezTo>
                    <a:pt x="19334353" y="1638046"/>
                    <a:pt x="19262089" y="1709166"/>
                    <a:pt x="19173189" y="1709166"/>
                  </a:cubicBezTo>
                  <a:lnTo>
                    <a:pt x="19173189" y="1696466"/>
                  </a:lnTo>
                  <a:lnTo>
                    <a:pt x="19173189" y="1709166"/>
                  </a:lnTo>
                  <a:lnTo>
                    <a:pt x="161163" y="1709166"/>
                  </a:lnTo>
                  <a:lnTo>
                    <a:pt x="161163" y="1696466"/>
                  </a:lnTo>
                  <a:lnTo>
                    <a:pt x="161163" y="1709166"/>
                  </a:lnTo>
                  <a:cubicBezTo>
                    <a:pt x="72263" y="1709293"/>
                    <a:pt x="0" y="1638173"/>
                    <a:pt x="0" y="1550035"/>
                  </a:cubicBezTo>
                  <a:lnTo>
                    <a:pt x="0" y="159131"/>
                  </a:lnTo>
                  <a:lnTo>
                    <a:pt x="12700" y="159131"/>
                  </a:lnTo>
                  <a:lnTo>
                    <a:pt x="0" y="159131"/>
                  </a:lnTo>
                  <a:moveTo>
                    <a:pt x="25400" y="159131"/>
                  </a:moveTo>
                  <a:lnTo>
                    <a:pt x="25400" y="1550035"/>
                  </a:lnTo>
                  <a:lnTo>
                    <a:pt x="12700" y="1550035"/>
                  </a:lnTo>
                  <a:lnTo>
                    <a:pt x="25400" y="1550035"/>
                  </a:lnTo>
                  <a:cubicBezTo>
                    <a:pt x="25400" y="1623695"/>
                    <a:pt x="85979" y="1683766"/>
                    <a:pt x="161163" y="1683766"/>
                  </a:cubicBezTo>
                  <a:lnTo>
                    <a:pt x="19173189" y="1683766"/>
                  </a:lnTo>
                  <a:cubicBezTo>
                    <a:pt x="19248374" y="1683766"/>
                    <a:pt x="19308953" y="1623695"/>
                    <a:pt x="19308953" y="1550035"/>
                  </a:cubicBezTo>
                  <a:lnTo>
                    <a:pt x="19308953" y="159131"/>
                  </a:lnTo>
                  <a:cubicBezTo>
                    <a:pt x="19308953" y="85471"/>
                    <a:pt x="19248374" y="25400"/>
                    <a:pt x="19173189" y="25400"/>
                  </a:cubicBezTo>
                  <a:lnTo>
                    <a:pt x="161163" y="25400"/>
                  </a:lnTo>
                  <a:lnTo>
                    <a:pt x="161163" y="12700"/>
                  </a:lnTo>
                  <a:lnTo>
                    <a:pt x="161163" y="25400"/>
                  </a:lnTo>
                  <a:cubicBezTo>
                    <a:pt x="85979" y="25400"/>
                    <a:pt x="25400" y="85471"/>
                    <a:pt x="25400" y="159131"/>
                  </a:cubicBezTo>
                  <a:close/>
                </a:path>
              </a:pathLst>
            </a:custGeom>
            <a:solidFill>
              <a:srgbClr val="253752">
                <a:alpha val="80784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2116207" y="8238325"/>
            <a:ext cx="873938" cy="873938"/>
            <a:chOff x="0" y="0"/>
            <a:chExt cx="1165250" cy="11652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5240" y="1524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436"/>
                  </a:moveTo>
                  <a:cubicBezTo>
                    <a:pt x="0" y="254000"/>
                    <a:pt x="254000" y="0"/>
                    <a:pt x="567436" y="0"/>
                  </a:cubicBezTo>
                  <a:cubicBezTo>
                    <a:pt x="880872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436"/>
                  </a:cubicBezTo>
                  <a:close/>
                </a:path>
              </a:pathLst>
            </a:custGeom>
            <a:solidFill>
              <a:srgbClr val="14213D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65225" cy="1165352"/>
            </a:xfrm>
            <a:custGeom>
              <a:avLst/>
              <a:gdLst/>
              <a:ahLst/>
              <a:cxnLst/>
              <a:rect r="r" b="b" t="t" l="l"/>
              <a:pathLst>
                <a:path h="1165352" w="1165225">
                  <a:moveTo>
                    <a:pt x="0" y="582676"/>
                  </a:moveTo>
                  <a:cubicBezTo>
                    <a:pt x="0" y="260858"/>
                    <a:pt x="260858" y="0"/>
                    <a:pt x="582676" y="0"/>
                  </a:cubicBezTo>
                  <a:lnTo>
                    <a:pt x="582676" y="15240"/>
                  </a:lnTo>
                  <a:lnTo>
                    <a:pt x="582676" y="0"/>
                  </a:lnTo>
                  <a:cubicBezTo>
                    <a:pt x="904367" y="0"/>
                    <a:pt x="1165225" y="260858"/>
                    <a:pt x="1165225" y="582676"/>
                  </a:cubicBezTo>
                  <a:lnTo>
                    <a:pt x="1149985" y="582676"/>
                  </a:lnTo>
                  <a:lnTo>
                    <a:pt x="1165225" y="582676"/>
                  </a:lnTo>
                  <a:cubicBezTo>
                    <a:pt x="1165225" y="904494"/>
                    <a:pt x="904367" y="1165352"/>
                    <a:pt x="582549" y="1165352"/>
                  </a:cubicBezTo>
                  <a:lnTo>
                    <a:pt x="582549" y="1150112"/>
                  </a:lnTo>
                  <a:lnTo>
                    <a:pt x="582549" y="1165352"/>
                  </a:lnTo>
                  <a:cubicBezTo>
                    <a:pt x="260858" y="1165225"/>
                    <a:pt x="0" y="904367"/>
                    <a:pt x="0" y="582676"/>
                  </a:cubicBezTo>
                  <a:lnTo>
                    <a:pt x="15240" y="582676"/>
                  </a:lnTo>
                  <a:lnTo>
                    <a:pt x="30480" y="582676"/>
                  </a:lnTo>
                  <a:lnTo>
                    <a:pt x="15240" y="582676"/>
                  </a:lnTo>
                  <a:lnTo>
                    <a:pt x="0" y="582676"/>
                  </a:lnTo>
                  <a:moveTo>
                    <a:pt x="30480" y="582676"/>
                  </a:moveTo>
                  <a:cubicBezTo>
                    <a:pt x="30480" y="591058"/>
                    <a:pt x="23622" y="597916"/>
                    <a:pt x="15240" y="597916"/>
                  </a:cubicBezTo>
                  <a:cubicBezTo>
                    <a:pt x="6858" y="597916"/>
                    <a:pt x="0" y="591058"/>
                    <a:pt x="0" y="582676"/>
                  </a:cubicBezTo>
                  <a:cubicBezTo>
                    <a:pt x="0" y="574294"/>
                    <a:pt x="6858" y="567436"/>
                    <a:pt x="15240" y="567436"/>
                  </a:cubicBezTo>
                  <a:cubicBezTo>
                    <a:pt x="23622" y="567436"/>
                    <a:pt x="30480" y="574294"/>
                    <a:pt x="30480" y="582676"/>
                  </a:cubicBezTo>
                  <a:cubicBezTo>
                    <a:pt x="30480" y="887603"/>
                    <a:pt x="277622" y="1134745"/>
                    <a:pt x="582549" y="1134745"/>
                  </a:cubicBezTo>
                  <a:cubicBezTo>
                    <a:pt x="887476" y="1134745"/>
                    <a:pt x="1134745" y="887603"/>
                    <a:pt x="1134745" y="582676"/>
                  </a:cubicBezTo>
                  <a:cubicBezTo>
                    <a:pt x="1134745" y="277749"/>
                    <a:pt x="887603" y="30480"/>
                    <a:pt x="582676" y="30480"/>
                  </a:cubicBezTo>
                  <a:lnTo>
                    <a:pt x="582676" y="15240"/>
                  </a:lnTo>
                  <a:lnTo>
                    <a:pt x="582676" y="30480"/>
                  </a:lnTo>
                  <a:cubicBezTo>
                    <a:pt x="277749" y="30480"/>
                    <a:pt x="30480" y="277749"/>
                    <a:pt x="30480" y="582676"/>
                  </a:cubicBezTo>
                  <a:close/>
                </a:path>
              </a:pathLst>
            </a:custGeom>
            <a:solidFill>
              <a:srgbClr val="5B8DFF">
                <a:alpha val="80784"/>
              </a:srgbClr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2127647" y="8455666"/>
            <a:ext cx="851059" cy="356892"/>
            <a:chOff x="0" y="0"/>
            <a:chExt cx="1134745" cy="47585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34743" cy="475860"/>
            </a:xfrm>
            <a:custGeom>
              <a:avLst/>
              <a:gdLst/>
              <a:ahLst/>
              <a:cxnLst/>
              <a:rect r="r" b="b" t="t" l="l"/>
              <a:pathLst>
                <a:path h="475860" w="1134743">
                  <a:moveTo>
                    <a:pt x="0" y="0"/>
                  </a:moveTo>
                  <a:lnTo>
                    <a:pt x="1134743" y="0"/>
                  </a:lnTo>
                  <a:lnTo>
                    <a:pt x="113474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1134745" cy="485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5B8D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3129696" y="8318392"/>
            <a:ext cx="2127647" cy="301990"/>
            <a:chOff x="0" y="0"/>
            <a:chExt cx="2836862" cy="40265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836856" cy="402651"/>
            </a:xfrm>
            <a:custGeom>
              <a:avLst/>
              <a:gdLst/>
              <a:ahLst/>
              <a:cxnLst/>
              <a:rect r="r" b="b" t="t" l="l"/>
              <a:pathLst>
                <a:path h="402651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80" r="0" b="-8728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2836862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spc="6">
                  <a:solidFill>
                    <a:srgbClr val="5B8DFF"/>
                  </a:solidFill>
                  <a:latin typeface="Mandali"/>
                  <a:ea typeface="Mandali"/>
                  <a:cs typeface="Mandali"/>
                  <a:sym typeface="Mandali"/>
                </a:rPr>
                <a:t>판별 기능 완료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3129696" y="8716470"/>
            <a:ext cx="2813980" cy="247079"/>
            <a:chOff x="0" y="0"/>
            <a:chExt cx="3751974" cy="32943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751971" cy="329441"/>
            </a:xfrm>
            <a:custGeom>
              <a:avLst/>
              <a:gdLst/>
              <a:ahLst/>
              <a:cxnLst/>
              <a:rect r="r" b="b" t="t" l="l"/>
              <a:pathLst>
                <a:path h="329441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913" r="0" b="-17191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9525"/>
              <a:ext cx="3751974" cy="319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3"/>
                </a:lnSpc>
              </a:pPr>
              <a:r>
                <a:rPr lang="en-US" sz="1411" spc="5">
                  <a:solidFill>
                    <a:srgbClr val="F7F8FC"/>
                  </a:solidFill>
                  <a:latin typeface="Mandali"/>
                  <a:ea typeface="Mandali"/>
                  <a:cs typeface="Mandali"/>
                  <a:sym typeface="Mandali"/>
                </a:rPr>
                <a:t>정상/비정상 결과 출력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510661" y="8295132"/>
            <a:ext cx="19069" cy="774030"/>
            <a:chOff x="0" y="0"/>
            <a:chExt cx="25425" cy="10320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12700"/>
              <a:ext cx="25400" cy="1006602"/>
            </a:xfrm>
            <a:custGeom>
              <a:avLst/>
              <a:gdLst/>
              <a:ahLst/>
              <a:cxnLst/>
              <a:rect r="r" b="b" t="t" l="l"/>
              <a:pathLst>
                <a:path h="1006602" w="25400">
                  <a:moveTo>
                    <a:pt x="25400" y="0"/>
                  </a:moveTo>
                  <a:lnTo>
                    <a:pt x="25400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752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7195090" y="8238325"/>
            <a:ext cx="873938" cy="873938"/>
            <a:chOff x="0" y="0"/>
            <a:chExt cx="1165250" cy="116525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5240" y="1524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436"/>
                  </a:moveTo>
                  <a:cubicBezTo>
                    <a:pt x="0" y="254000"/>
                    <a:pt x="254000" y="0"/>
                    <a:pt x="567436" y="0"/>
                  </a:cubicBezTo>
                  <a:cubicBezTo>
                    <a:pt x="880872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436"/>
                  </a:cubicBezTo>
                  <a:close/>
                </a:path>
              </a:pathLst>
            </a:custGeom>
            <a:solidFill>
              <a:srgbClr val="14213D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65225" cy="1165352"/>
            </a:xfrm>
            <a:custGeom>
              <a:avLst/>
              <a:gdLst/>
              <a:ahLst/>
              <a:cxnLst/>
              <a:rect r="r" b="b" t="t" l="l"/>
              <a:pathLst>
                <a:path h="1165352" w="1165225">
                  <a:moveTo>
                    <a:pt x="0" y="582676"/>
                  </a:moveTo>
                  <a:cubicBezTo>
                    <a:pt x="0" y="260858"/>
                    <a:pt x="260858" y="0"/>
                    <a:pt x="582676" y="0"/>
                  </a:cubicBezTo>
                  <a:lnTo>
                    <a:pt x="582676" y="15240"/>
                  </a:lnTo>
                  <a:lnTo>
                    <a:pt x="582676" y="0"/>
                  </a:lnTo>
                  <a:cubicBezTo>
                    <a:pt x="904367" y="0"/>
                    <a:pt x="1165225" y="260858"/>
                    <a:pt x="1165225" y="582676"/>
                  </a:cubicBezTo>
                  <a:lnTo>
                    <a:pt x="1149985" y="582676"/>
                  </a:lnTo>
                  <a:lnTo>
                    <a:pt x="1165225" y="582676"/>
                  </a:lnTo>
                  <a:cubicBezTo>
                    <a:pt x="1165225" y="904494"/>
                    <a:pt x="904367" y="1165352"/>
                    <a:pt x="582549" y="1165352"/>
                  </a:cubicBezTo>
                  <a:lnTo>
                    <a:pt x="582549" y="1150112"/>
                  </a:lnTo>
                  <a:lnTo>
                    <a:pt x="582549" y="1165352"/>
                  </a:lnTo>
                  <a:cubicBezTo>
                    <a:pt x="260858" y="1165225"/>
                    <a:pt x="0" y="904367"/>
                    <a:pt x="0" y="582676"/>
                  </a:cubicBezTo>
                  <a:lnTo>
                    <a:pt x="15240" y="582676"/>
                  </a:lnTo>
                  <a:lnTo>
                    <a:pt x="30480" y="582676"/>
                  </a:lnTo>
                  <a:lnTo>
                    <a:pt x="15240" y="582676"/>
                  </a:lnTo>
                  <a:lnTo>
                    <a:pt x="0" y="582676"/>
                  </a:lnTo>
                  <a:moveTo>
                    <a:pt x="30480" y="582676"/>
                  </a:moveTo>
                  <a:cubicBezTo>
                    <a:pt x="30480" y="591058"/>
                    <a:pt x="23622" y="597916"/>
                    <a:pt x="15240" y="597916"/>
                  </a:cubicBezTo>
                  <a:cubicBezTo>
                    <a:pt x="6858" y="597916"/>
                    <a:pt x="0" y="591058"/>
                    <a:pt x="0" y="582676"/>
                  </a:cubicBezTo>
                  <a:cubicBezTo>
                    <a:pt x="0" y="574294"/>
                    <a:pt x="6858" y="567436"/>
                    <a:pt x="15240" y="567436"/>
                  </a:cubicBezTo>
                  <a:cubicBezTo>
                    <a:pt x="23622" y="567436"/>
                    <a:pt x="30480" y="574294"/>
                    <a:pt x="30480" y="582676"/>
                  </a:cubicBezTo>
                  <a:cubicBezTo>
                    <a:pt x="30480" y="887603"/>
                    <a:pt x="277622" y="1134745"/>
                    <a:pt x="582549" y="1134745"/>
                  </a:cubicBezTo>
                  <a:cubicBezTo>
                    <a:pt x="887476" y="1134745"/>
                    <a:pt x="1134745" y="887603"/>
                    <a:pt x="1134745" y="582676"/>
                  </a:cubicBezTo>
                  <a:cubicBezTo>
                    <a:pt x="1134745" y="277749"/>
                    <a:pt x="887603" y="30480"/>
                    <a:pt x="582676" y="30480"/>
                  </a:cubicBezTo>
                  <a:lnTo>
                    <a:pt x="582676" y="15240"/>
                  </a:lnTo>
                  <a:lnTo>
                    <a:pt x="582676" y="30480"/>
                  </a:lnTo>
                  <a:cubicBezTo>
                    <a:pt x="277749" y="30480"/>
                    <a:pt x="30480" y="277749"/>
                    <a:pt x="30480" y="582676"/>
                  </a:cubicBezTo>
                  <a:close/>
                </a:path>
              </a:pathLst>
            </a:custGeom>
            <a:solidFill>
              <a:srgbClr val="58C58A">
                <a:alpha val="80784"/>
              </a:srgbClr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7206529" y="8455666"/>
            <a:ext cx="851059" cy="356892"/>
            <a:chOff x="0" y="0"/>
            <a:chExt cx="1134745" cy="47585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134743" cy="475860"/>
            </a:xfrm>
            <a:custGeom>
              <a:avLst/>
              <a:gdLst/>
              <a:ahLst/>
              <a:cxnLst/>
              <a:rect r="r" b="b" t="t" l="l"/>
              <a:pathLst>
                <a:path h="475860" w="1134743">
                  <a:moveTo>
                    <a:pt x="0" y="0"/>
                  </a:moveTo>
                  <a:lnTo>
                    <a:pt x="1134743" y="0"/>
                  </a:lnTo>
                  <a:lnTo>
                    <a:pt x="113474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1134745" cy="485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58C58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◎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208578" y="8318392"/>
            <a:ext cx="2361000" cy="301990"/>
            <a:chOff x="0" y="0"/>
            <a:chExt cx="3148000" cy="40265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147995" cy="402651"/>
            </a:xfrm>
            <a:custGeom>
              <a:avLst/>
              <a:gdLst/>
              <a:ahLst/>
              <a:cxnLst/>
              <a:rect r="r" b="b" t="t" l="l"/>
              <a:pathLst>
                <a:path h="402651" w="3147995">
                  <a:moveTo>
                    <a:pt x="0" y="0"/>
                  </a:moveTo>
                  <a:lnTo>
                    <a:pt x="3147995" y="0"/>
                  </a:lnTo>
                  <a:lnTo>
                    <a:pt x="3147995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37" r="0" b="-10233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3148000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spc="6">
                  <a:solidFill>
                    <a:srgbClr val="58C58A"/>
                  </a:solidFill>
                  <a:latin typeface="Mandali"/>
                  <a:ea typeface="Mandali"/>
                  <a:cs typeface="Mandali"/>
                  <a:sym typeface="Mandali"/>
                </a:rPr>
                <a:t>시각화 기능 완료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8208578" y="8716470"/>
            <a:ext cx="2813980" cy="247079"/>
            <a:chOff x="0" y="0"/>
            <a:chExt cx="3751974" cy="32943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751971" cy="329441"/>
            </a:xfrm>
            <a:custGeom>
              <a:avLst/>
              <a:gdLst/>
              <a:ahLst/>
              <a:cxnLst/>
              <a:rect r="r" b="b" t="t" l="l"/>
              <a:pathLst>
                <a:path h="329441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913" r="0" b="-17191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9525"/>
              <a:ext cx="3751974" cy="319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3"/>
                </a:lnSpc>
              </a:pPr>
              <a:r>
                <a:rPr lang="en-US" sz="1411" spc="5">
                  <a:solidFill>
                    <a:srgbClr val="F7F8FC"/>
                  </a:solidFill>
                  <a:latin typeface="Mandali"/>
                  <a:ea typeface="Mandali"/>
                  <a:cs typeface="Mandali"/>
                  <a:sym typeface="Mandali"/>
                </a:rPr>
                <a:t>마스킹·히트맵 제공</a:t>
              </a:r>
            </a:p>
          </p:txBody>
        </p:sp>
      </p:grpSp>
      <p:sp>
        <p:nvSpPr>
          <p:cNvPr name="TextBox 109" id="109"/>
          <p:cNvSpPr txBox="true"/>
          <p:nvPr/>
        </p:nvSpPr>
        <p:spPr>
          <a:xfrm rot="0">
            <a:off x="1143000" y="9671447"/>
            <a:ext cx="82297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PAGE 6</a:t>
            </a:r>
          </a:p>
          <a:p>
            <a:pPr algn="l">
              <a:lnSpc>
                <a:spcPts val="20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7597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2286000"/>
            <a:chOff x="0" y="0"/>
            <a:chExt cx="24384000" cy="304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571500"/>
            <a:ext cx="17145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i="true">
                <a:solidFill>
                  <a:srgbClr val="F8FAFC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05. PROGRESS STATUS (2/2)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0954" y="2903934"/>
            <a:ext cx="3223871" cy="539353"/>
            <a:chOff x="0" y="0"/>
            <a:chExt cx="4298495" cy="719138"/>
          </a:xfrm>
        </p:grpSpPr>
        <p:grpSp>
          <p:nvGrpSpPr>
            <p:cNvPr name="Group 8" id="8"/>
            <p:cNvGrpSpPr/>
            <p:nvPr/>
          </p:nvGrpSpPr>
          <p:grpSpPr>
            <a:xfrm rot="-6480000">
              <a:off x="69370" y="92837"/>
              <a:ext cx="533464" cy="533464"/>
              <a:chOff x="0" y="0"/>
              <a:chExt cx="533464" cy="533464"/>
            </a:xfrm>
          </p:grpSpPr>
          <p:sp>
            <p:nvSpPr>
              <p:cNvPr name="Freeform 9" id="9" descr="preencoded.png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0" y="0"/>
                    </a:moveTo>
                    <a:lnTo>
                      <a:pt x="533400" y="0"/>
                    </a:lnTo>
                    <a:lnTo>
                      <a:pt x="533400" y="533400"/>
                    </a:lnTo>
                    <a:lnTo>
                      <a:pt x="0" y="533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1785" r="-11" b="-1797"/>
                </a:stretch>
              </a:blip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888545" y="0"/>
              <a:ext cx="3409950" cy="719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0B98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구현 중인 항목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3871912"/>
            <a:ext cx="7751588" cy="1149506"/>
            <a:chOff x="0" y="0"/>
            <a:chExt cx="10335450" cy="153267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9050"/>
              <a:ext cx="3840505" cy="336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F8FAF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기능 C: 다품목 확장 구조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9357347" y="-19050"/>
              <a:ext cx="978103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20</a:t>
              </a:r>
              <a:r>
                <a:rPr lang="en-US" sz="1700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%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619125"/>
              <a:ext cx="9906000" cy="152400"/>
              <a:chOff x="0" y="0"/>
              <a:chExt cx="9906000" cy="152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906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E293B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1170724"/>
              <a:ext cx="9906000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예상 완료일: 2026. 05. 10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3000" y="5592366"/>
            <a:ext cx="7613550" cy="1271588"/>
            <a:chOff x="0" y="0"/>
            <a:chExt cx="10151400" cy="169545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19050"/>
              <a:ext cx="3901453" cy="336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F8FAF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기능 D: 현장 사용성 개선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357347" y="-19050"/>
              <a:ext cx="794053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  <a:r>
                <a:rPr lang="en-US" sz="1700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0%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0" y="619125"/>
              <a:ext cx="9906000" cy="152400"/>
              <a:chOff x="0" y="0"/>
              <a:chExt cx="9906000" cy="152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906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E293B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1170724"/>
              <a:ext cx="9906000" cy="5247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예상 완료일: 2026. 05. 25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15500" y="3641522"/>
            <a:ext cx="400050" cy="400050"/>
            <a:chOff x="0" y="0"/>
            <a:chExt cx="533400" cy="5334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5" r="0" b="-1785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329862" y="3571875"/>
            <a:ext cx="167878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0B981"/>
                </a:solidFill>
                <a:latin typeface="Inter Bold"/>
                <a:ea typeface="Inter Bold"/>
                <a:cs typeface="Inter Bold"/>
                <a:sym typeface="Inter Bold"/>
              </a:rPr>
              <a:t>이슈 관리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715500" y="4664869"/>
            <a:ext cx="285750" cy="285750"/>
            <a:chOff x="0" y="0"/>
            <a:chExt cx="381000" cy="3810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00" r="0" b="-250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15562" y="4824803"/>
            <a:ext cx="69294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시각화 신뢰성 한계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15562" y="5374872"/>
            <a:ext cx="692943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비정상 영역 표시는 설명용 성격이 커서, 실제 결함 경계와 완전히 일치하지 않을 수 있음.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715500" y="6890537"/>
            <a:ext cx="285750" cy="285750"/>
            <a:chOff x="0" y="0"/>
            <a:chExt cx="381000" cy="3810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500" r="0" b="-250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215562" y="7050472"/>
            <a:ext cx="69294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추론 속도 편차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15562" y="7600540"/>
            <a:ext cx="692943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모델 기반 시각화는 연산량이 커서 기기/환경에 따라 지연시간이 커질 수 있음.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3000" y="9671447"/>
            <a:ext cx="82297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PAGE 7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43000" y="7619590"/>
            <a:ext cx="7613550" cy="1271588"/>
            <a:chOff x="0" y="0"/>
            <a:chExt cx="10151400" cy="1695450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-19050"/>
              <a:ext cx="3901453" cy="336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F8FAF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기능 E: 데이터베이스 구축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9357347" y="-19050"/>
              <a:ext cx="794053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  <a:r>
                <a:rPr lang="en-US" sz="1700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0%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0" y="619125"/>
              <a:ext cx="9906000" cy="152400"/>
              <a:chOff x="0" y="0"/>
              <a:chExt cx="9906000" cy="152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9906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E293B"/>
              </a:solidFill>
            </p:spPr>
          </p:sp>
        </p:grpSp>
        <p:sp>
          <p:nvSpPr>
            <p:cNvPr name="TextBox 40" id="40"/>
            <p:cNvSpPr txBox="true"/>
            <p:nvPr/>
          </p:nvSpPr>
          <p:spPr>
            <a:xfrm rot="0">
              <a:off x="0" y="1170724"/>
              <a:ext cx="9906000" cy="5247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예상 완료일: 2026. 05. 25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43000" y="6053256"/>
            <a:ext cx="3448220" cy="114300"/>
            <a:chOff x="0" y="0"/>
            <a:chExt cx="4597626" cy="152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97626" cy="152400"/>
            </a:xfrm>
            <a:custGeom>
              <a:avLst/>
              <a:gdLst/>
              <a:ahLst/>
              <a:cxnLst/>
              <a:rect r="r" b="b" t="t" l="l"/>
              <a:pathLst>
                <a:path h="152400" w="4597626">
                  <a:moveTo>
                    <a:pt x="0" y="0"/>
                  </a:moveTo>
                  <a:lnTo>
                    <a:pt x="4597626" y="0"/>
                  </a:lnTo>
                  <a:lnTo>
                    <a:pt x="459762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43000" y="4332365"/>
            <a:ext cx="1878376" cy="114300"/>
            <a:chOff x="0" y="0"/>
            <a:chExt cx="2504502" cy="152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04502" cy="152400"/>
            </a:xfrm>
            <a:custGeom>
              <a:avLst/>
              <a:gdLst/>
              <a:ahLst/>
              <a:cxnLst/>
              <a:rect r="r" b="b" t="t" l="l"/>
              <a:pathLst>
                <a:path h="152400" w="2504502">
                  <a:moveTo>
                    <a:pt x="0" y="0"/>
                  </a:moveTo>
                  <a:lnTo>
                    <a:pt x="2504502" y="0"/>
                  </a:lnTo>
                  <a:lnTo>
                    <a:pt x="2504502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43000" y="8080158"/>
            <a:ext cx="1409853" cy="114300"/>
            <a:chOff x="0" y="0"/>
            <a:chExt cx="1879803" cy="152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79803" cy="152400"/>
            </a:xfrm>
            <a:custGeom>
              <a:avLst/>
              <a:gdLst/>
              <a:ahLst/>
              <a:cxnLst/>
              <a:rect r="r" b="b" t="t" l="l"/>
              <a:pathLst>
                <a:path h="152400" w="1879803">
                  <a:moveTo>
                    <a:pt x="0" y="0"/>
                  </a:moveTo>
                  <a:lnTo>
                    <a:pt x="1879803" y="0"/>
                  </a:lnTo>
                  <a:lnTo>
                    <a:pt x="1879803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/mnt/data/long_term_roadmap_and_planning_overview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" r="0" b="-26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7151370" y="1600200"/>
            <a:ext cx="3794760" cy="8229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322576" y="614362"/>
            <a:ext cx="1697495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i="true">
                <a:solidFill>
                  <a:srgbClr val="F8FAFC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06. DEMO 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9671447"/>
            <a:ext cx="82297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PAGE 9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093494" y="2739038"/>
            <a:ext cx="8101012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3"/>
              </a:lnSpc>
            </a:pPr>
            <a:r>
              <a:rPr lang="en-US" b="true" sz="12399" i="true" spc="-6">
                <a:solidFill>
                  <a:srgbClr val="F8FAFC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Q &amp; 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93494" y="4347362"/>
            <a:ext cx="8101012" cy="66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10B981"/>
                </a:solidFill>
                <a:latin typeface="Inter Bold"/>
                <a:ea typeface="Inter Bold"/>
                <a:cs typeface="Inter Bold"/>
                <a:sym typeface="Inter Bold"/>
              </a:rPr>
              <a:t>THANK YOU FOR YOUR ATTENTION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200900" y="6439375"/>
            <a:ext cx="3886200" cy="339328"/>
            <a:chOff x="0" y="0"/>
            <a:chExt cx="5181600" cy="45243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71438"/>
              <a:ext cx="381000" cy="381000"/>
              <a:chOff x="0" y="0"/>
              <a:chExt cx="381000" cy="381000"/>
            </a:xfrm>
          </p:grpSpPr>
          <p:sp>
            <p:nvSpPr>
              <p:cNvPr name="Freeform 8" id="8" descr="preencoded.png"/>
              <p:cNvSpPr/>
              <p:nvPr/>
            </p:nvSpPr>
            <p:spPr>
              <a:xfrm flipH="false" flipV="false" rot="0">
                <a:off x="0" y="0"/>
                <a:ext cx="3810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2500" r="0" b="-2500"/>
                </a:stretch>
              </a:blip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381000" y="-9525"/>
              <a:ext cx="48006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</a:rPr>
                <a:t>zbawoo2k@chungbuk.ac.kr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00592" y="7173507"/>
            <a:ext cx="8486815" cy="339328"/>
            <a:chOff x="0" y="0"/>
            <a:chExt cx="11315753" cy="45243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71438"/>
              <a:ext cx="381000" cy="381000"/>
              <a:chOff x="0" y="0"/>
              <a:chExt cx="381000" cy="381000"/>
            </a:xfrm>
          </p:grpSpPr>
          <p:sp>
            <p:nvSpPr>
              <p:cNvPr name="Freeform 12" id="12" descr="preencoded.png"/>
              <p:cNvSpPr/>
              <p:nvPr/>
            </p:nvSpPr>
            <p:spPr>
              <a:xfrm flipH="false" flipV="false" rot="0">
                <a:off x="0" y="0"/>
                <a:ext cx="381000" cy="381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-2500" r="0" b="-2500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-9525"/>
              <a:ext cx="10934753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100" u="sng">
                  <a:solidFill>
                    <a:srgbClr val="CBD5E1"/>
                  </a:solidFill>
                  <a:latin typeface="Arimo"/>
                  <a:ea typeface="Arimo"/>
                  <a:cs typeface="Arimo"/>
                  <a:sym typeface="Arimo"/>
                  <a:hlinkClick r:id="rId6" tooltip="https://github.com/2026-capstone-design-Genesis/2026-capstone"/>
                </a:rPr>
                <a:t>https://github.com/2026-capstone-design-Genesis/2026-capstone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322021" y="9671447"/>
            <a:ext cx="112393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PAGE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DAHH2j6X7qw</dc:identifier>
  <dcterms:modified xsi:type="dcterms:W3CDTF">2011-08-01T06:04:30Z</dcterms:modified>
  <cp:revision>1</cp:revision>
  <dc:title>프로젝트_진행_상황_보고서_(Progress_Presentation).pptx</dc:title>
</cp:coreProperties>
</file>